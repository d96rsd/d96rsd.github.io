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9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96.xml" ContentType="application/vnd.openxmlformats-officedocument.presentationml.notesSlide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74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63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30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66.xml" ContentType="application/vnd.openxmlformats-officedocument.presentationml.slide+xml"/>
  <Override PartName="/ppt/slides/slide103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68.xml" ContentType="application/vnd.openxmlformats-officedocument.presentationml.notesSlide+xml"/>
  <Override PartName="/ppt/notesSlides/notesSlide79.xml" ContentType="application/vnd.openxmlformats-officedocument.presentationml.notesSlide+xml"/>
  <Override PartName="/ppt/slides/slide55.xml" ContentType="application/vnd.openxmlformats-officedocument.presentationml.slide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57.xml" ContentType="application/vnd.openxmlformats-officedocument.presentationml.notesSlide+xml"/>
  <Override PartName="/ppt/notesSlides/notesSlide102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93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4.xml" ContentType="application/vnd.openxmlformats-officedocument.presentationml.slideLayout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60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s/slide89.xml" ContentType="application/vnd.openxmlformats-officedocument.presentationml.slide+xml"/>
  <Override PartName="/ppt/slides/slide49.xml" ContentType="application/vnd.openxmlformats-officedocument.presentationml.slide+xml"/>
  <Override PartName="/ppt/slides/slide78.xml" ContentType="application/vnd.openxmlformats-officedocument.presentationml.slide+xml"/>
  <Override PartName="/ppt/slides/slide96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69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98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103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83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Layouts/slideLayout22.xml" ContentType="application/vnd.openxmlformats-officedocument.presentationml.slideLayout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90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99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104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95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Override PartName="/ppt/slideLayouts/slideLayout16.xml" ContentType="application/vnd.openxmlformats-officedocument.presentationml.slideLayout+xml"/>
  <Override PartName="/ppt/notesSlides/notesSlide37.xml" ContentType="application/vnd.openxmlformats-officedocument.presentationml.notesSlide+xml"/>
  <Default Extension="jpeg" ContentType="image/jpeg"/>
  <Override PartName="/ppt/notesSlides/notesSlide55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100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91.xml" ContentType="application/vnd.openxmlformats-officedocument.presentationml.notes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  <Override PartName="/ppt/slides/slide106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67.xml" ContentType="application/vnd.openxmlformats-officedocument.presentationml.notesSlide+xml"/>
  <Override PartName="/ppt/slides/slide43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10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4.xml" ContentType="application/vnd.openxmlformats-officedocument.presentationml.notesSlide+xml"/>
  <Override PartName="/ppt/notesSlides/notesSlide81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Layouts/slideLayout20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12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s/slide48.xml" ContentType="application/vnd.openxmlformats-officedocument.presentationml.slide+xml"/>
  <Override PartName="/ppt/slides/slide95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97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notesSlides/notesSlide39.xml" ContentType="application/vnd.openxmlformats-officedocument.presentationml.notesSlide+xml"/>
  <Override PartName="/ppt/notesSlides/notesSlide8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  <p:sldMasterId id="2147483660" r:id="rId2"/>
  </p:sldMasterIdLst>
  <p:notesMasterIdLst>
    <p:notesMasterId r:id="rId109"/>
  </p:notesMasterIdLst>
  <p:sldIdLst>
    <p:sldId id="256" r:id="rId3"/>
    <p:sldId id="308" r:id="rId4"/>
    <p:sldId id="257" r:id="rId5"/>
    <p:sldId id="309" r:id="rId6"/>
    <p:sldId id="262" r:id="rId7"/>
    <p:sldId id="258" r:id="rId8"/>
    <p:sldId id="311" r:id="rId9"/>
    <p:sldId id="259" r:id="rId10"/>
    <p:sldId id="310" r:id="rId11"/>
    <p:sldId id="260" r:id="rId12"/>
    <p:sldId id="312" r:id="rId13"/>
    <p:sldId id="263" r:id="rId14"/>
    <p:sldId id="313" r:id="rId15"/>
    <p:sldId id="264" r:id="rId16"/>
    <p:sldId id="314" r:id="rId17"/>
    <p:sldId id="265" r:id="rId18"/>
    <p:sldId id="315" r:id="rId19"/>
    <p:sldId id="267" r:id="rId20"/>
    <p:sldId id="316" r:id="rId21"/>
    <p:sldId id="268" r:id="rId22"/>
    <p:sldId id="317" r:id="rId23"/>
    <p:sldId id="318" r:id="rId24"/>
    <p:sldId id="269" r:id="rId25"/>
    <p:sldId id="270" r:id="rId26"/>
    <p:sldId id="319" r:id="rId27"/>
    <p:sldId id="271" r:id="rId28"/>
    <p:sldId id="320" r:id="rId29"/>
    <p:sldId id="272" r:id="rId30"/>
    <p:sldId id="321" r:id="rId31"/>
    <p:sldId id="273" r:id="rId32"/>
    <p:sldId id="322" r:id="rId33"/>
    <p:sldId id="274" r:id="rId34"/>
    <p:sldId id="323" r:id="rId35"/>
    <p:sldId id="275" r:id="rId36"/>
    <p:sldId id="324" r:id="rId37"/>
    <p:sldId id="276" r:id="rId38"/>
    <p:sldId id="325" r:id="rId39"/>
    <p:sldId id="277" r:id="rId40"/>
    <p:sldId id="278" r:id="rId41"/>
    <p:sldId id="327" r:id="rId42"/>
    <p:sldId id="326" r:id="rId43"/>
    <p:sldId id="279" r:id="rId44"/>
    <p:sldId id="280" r:id="rId45"/>
    <p:sldId id="328" r:id="rId46"/>
    <p:sldId id="281" r:id="rId47"/>
    <p:sldId id="329" r:id="rId48"/>
    <p:sldId id="282" r:id="rId49"/>
    <p:sldId id="330" r:id="rId50"/>
    <p:sldId id="283" r:id="rId51"/>
    <p:sldId id="284" r:id="rId52"/>
    <p:sldId id="331" r:id="rId53"/>
    <p:sldId id="285" r:id="rId54"/>
    <p:sldId id="332" r:id="rId55"/>
    <p:sldId id="286" r:id="rId56"/>
    <p:sldId id="333" r:id="rId57"/>
    <p:sldId id="287" r:id="rId58"/>
    <p:sldId id="334" r:id="rId59"/>
    <p:sldId id="360" r:id="rId60"/>
    <p:sldId id="288" r:id="rId61"/>
    <p:sldId id="335" r:id="rId62"/>
    <p:sldId id="289" r:id="rId63"/>
    <p:sldId id="358" r:id="rId64"/>
    <p:sldId id="359" r:id="rId65"/>
    <p:sldId id="290" r:id="rId66"/>
    <p:sldId id="336" r:id="rId67"/>
    <p:sldId id="291" r:id="rId68"/>
    <p:sldId id="362" r:id="rId69"/>
    <p:sldId id="361" r:id="rId70"/>
    <p:sldId id="337" r:id="rId71"/>
    <p:sldId id="292" r:id="rId72"/>
    <p:sldId id="338" r:id="rId73"/>
    <p:sldId id="293" r:id="rId74"/>
    <p:sldId id="339" r:id="rId75"/>
    <p:sldId id="340" r:id="rId76"/>
    <p:sldId id="294" r:id="rId77"/>
    <p:sldId id="295" r:id="rId78"/>
    <p:sldId id="341" r:id="rId79"/>
    <p:sldId id="296" r:id="rId80"/>
    <p:sldId id="342" r:id="rId81"/>
    <p:sldId id="297" r:id="rId82"/>
    <p:sldId id="298" r:id="rId83"/>
    <p:sldId id="363" r:id="rId84"/>
    <p:sldId id="364" r:id="rId85"/>
    <p:sldId id="299" r:id="rId86"/>
    <p:sldId id="354" r:id="rId87"/>
    <p:sldId id="343" r:id="rId88"/>
    <p:sldId id="355" r:id="rId89"/>
    <p:sldId id="300" r:id="rId90"/>
    <p:sldId id="344" r:id="rId91"/>
    <p:sldId id="301" r:id="rId92"/>
    <p:sldId id="302" r:id="rId93"/>
    <p:sldId id="345" r:id="rId94"/>
    <p:sldId id="303" r:id="rId95"/>
    <p:sldId id="346" r:id="rId96"/>
    <p:sldId id="347" r:id="rId97"/>
    <p:sldId id="348" r:id="rId98"/>
    <p:sldId id="349" r:id="rId99"/>
    <p:sldId id="304" r:id="rId100"/>
    <p:sldId id="350" r:id="rId101"/>
    <p:sldId id="307" r:id="rId102"/>
    <p:sldId id="351" r:id="rId103"/>
    <p:sldId id="352" r:id="rId104"/>
    <p:sldId id="353" r:id="rId105"/>
    <p:sldId id="305" r:id="rId106"/>
    <p:sldId id="356" r:id="rId107"/>
    <p:sldId id="357" r:id="rId10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00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59" autoAdjust="0"/>
    <p:restoredTop sz="86390" autoAdjust="0"/>
  </p:normalViewPr>
  <p:slideViewPr>
    <p:cSldViewPr>
      <p:cViewPr varScale="1">
        <p:scale>
          <a:sx n="64" d="100"/>
          <a:sy n="64" d="100"/>
        </p:scale>
        <p:origin x="-130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538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slide" Target="slides/slide85.xml"/><Relationship Id="rId102" Type="http://schemas.openxmlformats.org/officeDocument/2006/relationships/slide" Target="slides/slide100.xml"/><Relationship Id="rId110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13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1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notesMaster" Target="notesMasters/notesMaster1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118C455-DCBE-41F6-9A52-324D6BC54AEC}" type="datetimeFigureOut">
              <a:rPr lang="en-US"/>
              <a:pPr>
                <a:defRPr/>
              </a:pPr>
              <a:t>11/6/2014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1F781F4-099F-4112-9B1E-8A4E416391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502099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63</a:t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64</a:t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65</a:t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67</a:t>
            </a:fld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68</a:t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69</a:t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71</a:t>
            </a:fld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72</a:t>
            </a:fld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73</a:t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74</a:t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75</a:t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76</a:t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77</a:t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78</a:t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79</a:t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80</a:t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81</a:t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82</a:t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83</a:t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84</a:t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85</a:t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86</a:t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87</a:t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88</a:t>
            </a:fld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89</a:t>
            </a:fld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90</a:t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91</a:t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92</a:t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93</a:t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94</a:t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95</a:t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96</a:t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98</a:t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99</a:t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100</a:t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101</a:t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102</a:t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103</a:t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104</a:t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105</a:t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106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5D2D3F-B0F1-446B-B7CC-19B90EB0017B}" type="datetimeFigureOut">
              <a:rPr lang="en-US"/>
              <a:pPr>
                <a:defRPr/>
              </a:pPr>
              <a:t>11/6/2014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A4F69-47FA-46CC-8030-E13D0EF9E8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pull dir="r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een.gif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429625" y="5562600"/>
            <a:ext cx="714375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7" descr="hand.gif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115050"/>
            <a:ext cx="1190625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reeform 5"/>
          <p:cNvSpPr/>
          <p:nvPr userDrawn="1"/>
        </p:nvSpPr>
        <p:spPr>
          <a:xfrm>
            <a:off x="1171575" y="6124575"/>
            <a:ext cx="7286625" cy="219075"/>
          </a:xfrm>
          <a:custGeom>
            <a:avLst/>
            <a:gdLst>
              <a:gd name="connsiteX0" fmla="*/ 0 w 7286625"/>
              <a:gd name="connsiteY0" fmla="*/ 219075 h 219075"/>
              <a:gd name="connsiteX1" fmla="*/ 190500 w 7286625"/>
              <a:gd name="connsiteY1" fmla="*/ 180975 h 219075"/>
              <a:gd name="connsiteX2" fmla="*/ 2790825 w 7286625"/>
              <a:gd name="connsiteY2" fmla="*/ 171450 h 219075"/>
              <a:gd name="connsiteX3" fmla="*/ 2924175 w 7286625"/>
              <a:gd name="connsiteY3" fmla="*/ 152400 h 219075"/>
              <a:gd name="connsiteX4" fmla="*/ 3267075 w 7286625"/>
              <a:gd name="connsiteY4" fmla="*/ 133350 h 219075"/>
              <a:gd name="connsiteX5" fmla="*/ 3390900 w 7286625"/>
              <a:gd name="connsiteY5" fmla="*/ 123825 h 219075"/>
              <a:gd name="connsiteX6" fmla="*/ 3667125 w 7286625"/>
              <a:gd name="connsiteY6" fmla="*/ 85725 h 219075"/>
              <a:gd name="connsiteX7" fmla="*/ 3838575 w 7286625"/>
              <a:gd name="connsiteY7" fmla="*/ 76200 h 219075"/>
              <a:gd name="connsiteX8" fmla="*/ 4381500 w 7286625"/>
              <a:gd name="connsiteY8" fmla="*/ 47625 h 219075"/>
              <a:gd name="connsiteX9" fmla="*/ 4552950 w 7286625"/>
              <a:gd name="connsiteY9" fmla="*/ 38100 h 219075"/>
              <a:gd name="connsiteX10" fmla="*/ 4686300 w 7286625"/>
              <a:gd name="connsiteY10" fmla="*/ 28575 h 219075"/>
              <a:gd name="connsiteX11" fmla="*/ 5562600 w 7286625"/>
              <a:gd name="connsiteY11" fmla="*/ 0 h 219075"/>
              <a:gd name="connsiteX12" fmla="*/ 6486525 w 7286625"/>
              <a:gd name="connsiteY12" fmla="*/ 9525 h 219075"/>
              <a:gd name="connsiteX13" fmla="*/ 6581775 w 7286625"/>
              <a:gd name="connsiteY13" fmla="*/ 19050 h 219075"/>
              <a:gd name="connsiteX14" fmla="*/ 6715125 w 7286625"/>
              <a:gd name="connsiteY14" fmla="*/ 47625 h 219075"/>
              <a:gd name="connsiteX15" fmla="*/ 7210425 w 7286625"/>
              <a:gd name="connsiteY15" fmla="*/ 66675 h 219075"/>
              <a:gd name="connsiteX16" fmla="*/ 7286625 w 7286625"/>
              <a:gd name="connsiteY16" fmla="*/ 76200 h 219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286625" h="219075">
                <a:moveTo>
                  <a:pt x="0" y="219075"/>
                </a:moveTo>
                <a:cubicBezTo>
                  <a:pt x="67827" y="173857"/>
                  <a:pt x="45538" y="182475"/>
                  <a:pt x="190500" y="180975"/>
                </a:cubicBezTo>
                <a:lnTo>
                  <a:pt x="2790825" y="171450"/>
                </a:lnTo>
                <a:cubicBezTo>
                  <a:pt x="2835275" y="165100"/>
                  <a:pt x="2879529" y="157183"/>
                  <a:pt x="2924175" y="152400"/>
                </a:cubicBezTo>
                <a:cubicBezTo>
                  <a:pt x="3020054" y="142127"/>
                  <a:pt x="3181234" y="138255"/>
                  <a:pt x="3267075" y="133350"/>
                </a:cubicBezTo>
                <a:cubicBezTo>
                  <a:pt x="3308405" y="130988"/>
                  <a:pt x="3349625" y="127000"/>
                  <a:pt x="3390900" y="123825"/>
                </a:cubicBezTo>
                <a:cubicBezTo>
                  <a:pt x="3496096" y="104698"/>
                  <a:pt x="3551356" y="92157"/>
                  <a:pt x="3667125" y="85725"/>
                </a:cubicBezTo>
                <a:lnTo>
                  <a:pt x="3838575" y="76200"/>
                </a:lnTo>
                <a:cubicBezTo>
                  <a:pt x="4421283" y="38197"/>
                  <a:pt x="3784538" y="73028"/>
                  <a:pt x="4381500" y="47625"/>
                </a:cubicBezTo>
                <a:cubicBezTo>
                  <a:pt x="4438686" y="45192"/>
                  <a:pt x="4495823" y="41670"/>
                  <a:pt x="4552950" y="38100"/>
                </a:cubicBezTo>
                <a:cubicBezTo>
                  <a:pt x="4597426" y="35320"/>
                  <a:pt x="4641768" y="30255"/>
                  <a:pt x="4686300" y="28575"/>
                </a:cubicBezTo>
                <a:lnTo>
                  <a:pt x="5562600" y="0"/>
                </a:lnTo>
                <a:lnTo>
                  <a:pt x="6486525" y="9525"/>
                </a:lnTo>
                <a:cubicBezTo>
                  <a:pt x="6518428" y="10121"/>
                  <a:pt x="6550352" y="13505"/>
                  <a:pt x="6581775" y="19050"/>
                </a:cubicBezTo>
                <a:cubicBezTo>
                  <a:pt x="6696351" y="39269"/>
                  <a:pt x="6600009" y="39686"/>
                  <a:pt x="6715125" y="47625"/>
                </a:cubicBezTo>
                <a:cubicBezTo>
                  <a:pt x="6818795" y="54775"/>
                  <a:pt x="7128867" y="63956"/>
                  <a:pt x="7210425" y="66675"/>
                </a:cubicBezTo>
                <a:cubicBezTo>
                  <a:pt x="7254060" y="81220"/>
                  <a:pt x="7228960" y="76200"/>
                  <a:pt x="7286625" y="76200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7" name="Picture 9" descr="top.gif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 rot="18850181">
            <a:off x="-155575" y="330200"/>
            <a:ext cx="2000250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  <a:ln>
            <a:noFill/>
          </a:ln>
        </p:spPr>
        <p:txBody>
          <a:bodyPr/>
          <a:lstStyle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25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-9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"/>
                          </p:val>
                        </p:tav>
                        <p:tav tm="100000">
                          <p:val>
                            <p:strVal val="#ppt_w*.05"/>
                          </p:val>
                        </p:tav>
                      </p:tavLst>
                    </p:anim>
                    <p:anim calcmode="lin" valueType="num">
                      <p:cBhvr>
                        <p:cTn dur="500" accel="50000" fill="hold">
                          <p:stCondLst>
                            <p:cond delay="500"/>
                          </p:stCondLst>
                        </p:cTn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.05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+.4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2"/>
                          </p:val>
                        </p:tav>
                        <p:tav tm="100000">
                          <p:val>
                            <p:strVal val="#ppt_y+.1"/>
                          </p:val>
                        </p:tav>
                      </p:tavLst>
                    </p:anim>
                    <p:anim calcmode="lin" valueType="num">
                      <p:cBhvr>
                        <p:cTn dur="500" accel="50000" fill="hold">
                          <p:stCondLst>
                            <p:cond delay="50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fade">
                      <p:cBhvr>
                        <p:cTn dur="1000" decel="50000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5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-9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"/>
                          </p:val>
                        </p:tav>
                        <p:tav tm="100000">
                          <p:val>
                            <p:strVal val="#ppt_w*.05"/>
                          </p:val>
                        </p:tav>
                      </p:tavLst>
                    </p:anim>
                    <p:anim calcmode="lin" valueType="num">
                      <p:cBhvr>
                        <p:cTn dur="500" accel="50000" fill="hold">
                          <p:stCondLst>
                            <p:cond delay="500"/>
                          </p:stCondLst>
                        </p:cTn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.05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+.4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2"/>
                          </p:val>
                        </p:tav>
                        <p:tav tm="100000">
                          <p:val>
                            <p:strVal val="#ppt_y+.1"/>
                          </p:val>
                        </p:tav>
                      </p:tavLst>
                    </p:anim>
                    <p:anim calcmode="lin" valueType="num">
                      <p:cBhvr>
                        <p:cTn dur="500" accel="50000" fill="hold">
                          <p:stCondLst>
                            <p:cond delay="50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fade">
                      <p:cBhvr>
                        <p:cTn dur="1000" decel="50000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5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-9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"/>
                          </p:val>
                        </p:tav>
                        <p:tav tm="100000">
                          <p:val>
                            <p:strVal val="#ppt_w*.05"/>
                          </p:val>
                        </p:tav>
                      </p:tavLst>
                    </p:anim>
                    <p:anim calcmode="lin" valueType="num">
                      <p:cBhvr>
                        <p:cTn dur="500" accel="50000" fill="hold">
                          <p:stCondLst>
                            <p:cond delay="500"/>
                          </p:stCondLst>
                        </p:cTn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.05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+.4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2"/>
                          </p:val>
                        </p:tav>
                        <p:tav tm="100000">
                          <p:val>
                            <p:strVal val="#ppt_y+.1"/>
                          </p:val>
                        </p:tav>
                      </p:tavLst>
                    </p:anim>
                    <p:anim calcmode="lin" valueType="num">
                      <p:cBhvr>
                        <p:cTn dur="500" accel="50000" fill="hold">
                          <p:stCondLst>
                            <p:cond delay="50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fade">
                      <p:cBhvr>
                        <p:cTn dur="1000" decel="50000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5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-9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"/>
                          </p:val>
                        </p:tav>
                        <p:tav tm="100000">
                          <p:val>
                            <p:strVal val="#ppt_w*.05"/>
                          </p:val>
                        </p:tav>
                      </p:tavLst>
                    </p:anim>
                    <p:anim calcmode="lin" valueType="num">
                      <p:cBhvr>
                        <p:cTn dur="500" accel="50000" fill="hold">
                          <p:stCondLst>
                            <p:cond delay="500"/>
                          </p:stCondLst>
                        </p:cTn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.05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+.4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2"/>
                          </p:val>
                        </p:tav>
                        <p:tav tm="100000">
                          <p:val>
                            <p:strVal val="#ppt_y+.1"/>
                          </p:val>
                        </p:tav>
                      </p:tavLst>
                    </p:anim>
                    <p:anim calcmode="lin" valueType="num">
                      <p:cBhvr>
                        <p:cTn dur="500" accel="50000" fill="hold">
                          <p:stCondLst>
                            <p:cond delay="50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fade">
                      <p:cBhvr>
                        <p:cTn dur="1000" decel="50000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5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-9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"/>
                          </p:val>
                        </p:tav>
                        <p:tav tm="100000">
                          <p:val>
                            <p:strVal val="#ppt_w*.05"/>
                          </p:val>
                        </p:tav>
                      </p:tavLst>
                    </p:anim>
                    <p:anim calcmode="lin" valueType="num">
                      <p:cBhvr>
                        <p:cTn dur="500" accel="50000" fill="hold">
                          <p:stCondLst>
                            <p:cond delay="500"/>
                          </p:stCondLst>
                        </p:cTn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.05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+.4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2"/>
                          </p:val>
                        </p:tav>
                        <p:tav tm="100000">
                          <p:val>
                            <p:strVal val="#ppt_y+.1"/>
                          </p:val>
                        </p:tav>
                      </p:tavLst>
                    </p:anim>
                    <p:anim calcmode="lin" valueType="num">
                      <p:cBhvr>
                        <p:cTn dur="500" accel="50000" fill="hold">
                          <p:stCondLst>
                            <p:cond delay="50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fade">
                      <p:cBhvr>
                        <p:cTn dur="1000" decel="50000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29AB0-274B-47BE-985F-46164E2F9B8D}" type="datetimeFigureOut">
              <a:rPr lang="en-US"/>
              <a:pPr>
                <a:defRPr/>
              </a:pPr>
              <a:t>11/6/2014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238FDB-2D8C-4804-B582-7DB90366B9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pull dir="r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0B030-1580-4866-BCBB-5B9DCBDFAB68}" type="datetimeFigureOut">
              <a:rPr lang="en-US"/>
              <a:pPr>
                <a:defRPr/>
              </a:pPr>
              <a:t>11/6/2014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7EB8B-B6EB-443D-9CB4-B019CEC8F4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pull dir="r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FF0F97-1060-4EBF-B543-874A8397FCDC}" type="datetimeFigureOut">
              <a:rPr lang="en-US"/>
              <a:pPr>
                <a:defRPr/>
              </a:pPr>
              <a:t>11/6/2014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6104A5-FF6A-4891-8FE3-D539A7A66E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pull dir="r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48A180-20FC-43E6-ACF2-E4D2D7D4238C}" type="datetimeFigureOut">
              <a:rPr lang="en-US"/>
              <a:pPr>
                <a:defRPr/>
              </a:pPr>
              <a:t>11/6/2014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012834-41A2-49E3-8762-B14EE3F5CF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pull dir="r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242E86-E886-49FE-9E81-CBA74FDF21F4}" type="datetimeFigureOut">
              <a:rPr lang="en-US"/>
              <a:pPr>
                <a:defRPr/>
              </a:pPr>
              <a:t>11/6/2014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9A6F0D-A611-4358-861D-7B01E83038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pull dir="r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E854A5-A6D3-4FF2-A83D-4A92E35723B6}" type="datetimeFigureOut">
              <a:rPr lang="en-US"/>
              <a:pPr>
                <a:defRPr/>
              </a:pPr>
              <a:t>11/6/2014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B79F47-3AF0-4617-BC60-2E592392BB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pull dir="r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FCA2E3-A4EC-4D3C-A723-C30C7527518B}" type="datetimeFigureOut">
              <a:rPr lang="en-US"/>
              <a:pPr>
                <a:defRPr/>
              </a:pPr>
              <a:t>11/6/2014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DF8B95-FD24-4BC4-B430-69A3136D11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pull dir="r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EB11F-C391-4BDD-82EB-6F3E13A9F9E1}" type="datetimeFigureOut">
              <a:rPr lang="en-US"/>
              <a:pPr>
                <a:defRPr/>
              </a:pPr>
              <a:t>11/6/2014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F0D068-AB96-40B8-9FAA-4228627632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pull dir="r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2669FE-0345-4152-A335-E3D8B60CD5FA}" type="datetimeFigureOut">
              <a:rPr lang="en-US"/>
              <a:pPr>
                <a:defRPr/>
              </a:pPr>
              <a:t>11/6/2014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7040A0-6A5C-4BDA-AED7-03967CF047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pull dir="r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6CD45C-81C4-4E27-A18A-8835B7066D8D}" type="datetimeFigureOut">
              <a:rPr lang="en-US"/>
              <a:pPr>
                <a:defRPr/>
              </a:pPr>
              <a:t>11/6/2014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F246AB-72DE-4829-A3EE-183283F17E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pull dir="r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F4F1D-9F1B-4CA4-932E-311654E99826}" type="datetimeFigureOut">
              <a:rPr lang="en-US"/>
              <a:pPr>
                <a:defRPr/>
              </a:pPr>
              <a:t>11/6/2014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217303-0E5B-4E24-BCA3-62F5881C10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pull dir="r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0E4233-E030-4D82-AE1D-06E871FCE686}" type="datetimeFigureOut">
              <a:rPr lang="en-US"/>
              <a:pPr>
                <a:defRPr/>
              </a:pPr>
              <a:t>11/6/2014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F17966-739A-4E4E-BEF8-5E9D65CAA6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pull dir="r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5EE9E-C85E-43CC-91D6-50F7B4961BB7}" type="datetimeFigureOut">
              <a:rPr lang="en-US"/>
              <a:pPr>
                <a:defRPr/>
              </a:pPr>
              <a:t>11/6/2014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B75778-597E-43D2-A71E-341C60964E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pull dir="r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9F8884-1DEA-4C84-A489-E724713CC95E}" type="datetimeFigureOut">
              <a:rPr lang="en-US"/>
              <a:pPr>
                <a:defRPr/>
              </a:pPr>
              <a:t>11/6/2014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D71189-8D0B-455A-87B2-3A89DCBF68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pull dir="r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2DFE5A-BFC9-454A-A87C-69BA4FE25A0F}" type="datetimeFigureOut">
              <a:rPr lang="en-US"/>
              <a:pPr>
                <a:defRPr/>
              </a:pPr>
              <a:t>11/6/2014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5D2254-A369-4EE7-927D-AE71362307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pull dir="rd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4A6603-BAC9-4FFA-BE72-57B7C0EDA50D}" type="datetimeFigureOut">
              <a:rPr lang="en-US"/>
              <a:pPr>
                <a:defRPr/>
              </a:pPr>
              <a:t>11/6/2014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69E04E-7B9E-40CB-AECA-9BEEF7D4B1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pull dir="r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F2E53-C0F0-49CC-8B3F-6BA3D019B99D}" type="datetimeFigureOut">
              <a:rPr lang="en-US"/>
              <a:pPr>
                <a:defRPr/>
              </a:pPr>
              <a:t>11/6/2014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75EC1-C65E-447A-8CAE-CC74F72434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pull dir="rd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4AA9AB-7925-475F-87E4-57F6EF092961}" type="datetimeFigureOut">
              <a:rPr lang="en-US"/>
              <a:pPr>
                <a:defRPr/>
              </a:pPr>
              <a:t>11/6/2014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A6BC3C-EF4C-4932-8208-7FBB5701A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pull dir="rd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9C3780-DD3C-46A5-8303-4579155A8DB3}" type="datetimeFigureOut">
              <a:rPr lang="en-US"/>
              <a:pPr>
                <a:defRPr/>
              </a:pPr>
              <a:t>11/6/2014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2BAF33-582B-4B0D-B27A-32E91EEEB0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pull dir="rd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3C4502-BF88-49E9-A189-5718D68C95C9}" type="datetimeFigureOut">
              <a:rPr lang="en-US"/>
              <a:pPr>
                <a:defRPr/>
              </a:pPr>
              <a:t>11/6/2014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835F4E-BD93-49E1-84D0-363BA31979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pull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E62B1BE-7229-4612-B077-302E9FB27D58}" type="datetimeFigureOut">
              <a:rPr lang="en-US"/>
              <a:pPr>
                <a:defRPr/>
              </a:pPr>
              <a:t>11/6/2014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4367C90-D8D8-4A11-9BC3-E7451ACC5E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40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ransition>
    <p:pull dir="rd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1CF5B1-68BC-4F44-89BE-2F24F67B5729}" type="datetimeFigureOut">
              <a:rPr lang="en-US"/>
              <a:pPr>
                <a:defRPr/>
              </a:pPr>
              <a:t>11/6/2014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69DAB5F-4C32-47E8-A254-E438E2D0D3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transition>
    <p:pull dir="rd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6" descr="transparent.gi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30463" y="1676400"/>
            <a:ext cx="4046537" cy="4233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Chapter 1</a:t>
            </a:r>
            <a:br>
              <a:rPr lang="en-US" dirty="0" smtClean="0"/>
            </a:br>
            <a:r>
              <a:rPr lang="en-US" dirty="0" smtClean="0"/>
              <a:t>Computer System Overview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Patricia Roy</a:t>
            </a:r>
            <a:br>
              <a:rPr lang="en-US" smtClean="0"/>
            </a:br>
            <a:r>
              <a:rPr lang="en-US" smtClean="0"/>
              <a:t>Manatee Community College, Venice, FL</a:t>
            </a:r>
            <a:br>
              <a:rPr lang="en-US" smtClean="0"/>
            </a:br>
            <a:r>
              <a:rPr lang="en-US" smtClean="0"/>
              <a:t>©2008, Prentice Hall</a:t>
            </a:r>
            <a:br>
              <a:rPr lang="en-US" smtClean="0"/>
            </a:b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7" name="Subtitle 2"/>
          <p:cNvSpPr txBox="1">
            <a:spLocks/>
          </p:cNvSpPr>
          <p:nvPr/>
        </p:nvSpPr>
        <p:spPr bwMode="auto">
          <a:xfrm>
            <a:off x="1371600" y="152400"/>
            <a:ext cx="6400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2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Operating Systems:</a:t>
            </a:r>
            <a:b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Internals and Design Principles, 6/E</a:t>
            </a:r>
            <a:b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William Stallings</a:t>
            </a:r>
            <a:endParaRPr kumimoji="0" lang="en-US" sz="3200" b="0" i="1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6" descr="transparent.gi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30463" y="1676400"/>
            <a:ext cx="4046537" cy="4233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 smtClean="0"/>
              <a:t>Poglavlje</a:t>
            </a:r>
            <a:r>
              <a:rPr lang="en-US" dirty="0" smtClean="0"/>
              <a:t> 1</a:t>
            </a:r>
            <a:br>
              <a:rPr lang="en-US" dirty="0" smtClean="0"/>
            </a:br>
            <a:r>
              <a:rPr lang="sr-Latn-RS" dirty="0" smtClean="0"/>
              <a:t>Pregled računarskog si</a:t>
            </a:r>
            <a:r>
              <a:rPr lang="en-US" dirty="0" smtClean="0"/>
              <a:t>stem</a:t>
            </a:r>
            <a:r>
              <a:rPr lang="sr-Latn-RS" dirty="0" smtClean="0"/>
              <a:t>a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Patricia Roy</a:t>
            </a:r>
            <a:br>
              <a:rPr lang="en-US" smtClean="0"/>
            </a:br>
            <a:r>
              <a:rPr lang="en-US" smtClean="0"/>
              <a:t>Manatee Community College, Venice, FL</a:t>
            </a:r>
            <a:br>
              <a:rPr lang="en-US" smtClean="0"/>
            </a:br>
            <a:r>
              <a:rPr lang="en-US" smtClean="0"/>
              <a:t>©2008, Prentice Hall</a:t>
            </a:r>
            <a:br>
              <a:rPr lang="en-US" smtClean="0"/>
            </a:b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7" name="Subtitle 2"/>
          <p:cNvSpPr txBox="1">
            <a:spLocks/>
          </p:cNvSpPr>
          <p:nvPr/>
        </p:nvSpPr>
        <p:spPr bwMode="auto">
          <a:xfrm>
            <a:off x="1371600" y="152400"/>
            <a:ext cx="6400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lvl="0"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Operat</a:t>
            </a:r>
            <a:r>
              <a:rPr kumimoji="0" lang="sr-Latn-R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ivni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sr-Latn-R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stem</a:t>
            </a:r>
            <a:r>
              <a:rPr kumimoji="0" lang="sr-Latn-R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r>
              <a:rPr kumimoji="0" lang="en-US" sz="3200" b="0" i="1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sz="3200" b="0" i="1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lang="sr-Latn-RS" sz="3200" i="1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P</a:t>
            </a:r>
            <a:r>
              <a:rPr kumimoji="0" lang="sr-Latn-RS" sz="3200" b="0" i="1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rincipi u</a:t>
            </a:r>
            <a:r>
              <a:rPr lang="sr-Latn-RS" sz="3200" i="1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nutrašnje organizacije i </a:t>
            </a:r>
            <a:r>
              <a:rPr kumimoji="0" lang="sr-Latn-RS" sz="3200" b="0" i="1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dizaja</a:t>
            </a:r>
            <a:r>
              <a:rPr kumimoji="0" lang="en-US" sz="3200" b="0" i="1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6/E</a:t>
            </a:r>
            <a:b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William Stallings</a:t>
            </a:r>
            <a:endParaRPr kumimoji="0" lang="en-US" sz="3200" b="0" i="1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78346208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Operat</a:t>
            </a:r>
            <a:r>
              <a:rPr lang="sr-Latn-RS" dirty="0"/>
              <a:t>ivni</a:t>
            </a:r>
            <a:r>
              <a:rPr lang="en-US" dirty="0"/>
              <a:t> </a:t>
            </a:r>
            <a:r>
              <a:rPr lang="sr-Latn-RS" dirty="0"/>
              <a:t>si</a:t>
            </a:r>
            <a:r>
              <a:rPr lang="en-US" dirty="0" smtClean="0"/>
              <a:t>stem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Koristi resurse </a:t>
            </a:r>
            <a:r>
              <a:rPr lang="en-US" dirty="0" smtClean="0"/>
              <a:t>hard</a:t>
            </a:r>
            <a:r>
              <a:rPr lang="sr-Latn-RS" dirty="0" smtClean="0"/>
              <a:t>ve</a:t>
            </a:r>
            <a:r>
              <a:rPr lang="en-US" dirty="0" smtClean="0"/>
              <a:t>r</a:t>
            </a:r>
            <a:r>
              <a:rPr lang="sr-Latn-RS" dirty="0" smtClean="0"/>
              <a:t>a jednog ili više </a:t>
            </a:r>
            <a:r>
              <a:rPr lang="en-US" dirty="0" err="1" smtClean="0"/>
              <a:t>procesor</a:t>
            </a:r>
            <a:r>
              <a:rPr lang="sr-Latn-RS" dirty="0" smtClean="0"/>
              <a:t>a</a:t>
            </a:r>
            <a:endParaRPr lang="en-US" dirty="0" smtClean="0"/>
          </a:p>
          <a:p>
            <a:r>
              <a:rPr lang="sr-Latn-RS" dirty="0" smtClean="0"/>
              <a:t>Obezbeđuje skup </a:t>
            </a:r>
            <a:r>
              <a:rPr lang="en-US" dirty="0" err="1" smtClean="0"/>
              <a:t>servi</a:t>
            </a:r>
            <a:r>
              <a:rPr lang="sr-Latn-RS" dirty="0" smtClean="0"/>
              <a:t>sa korisnicima sistema</a:t>
            </a:r>
            <a:endParaRPr lang="en-US" dirty="0" smtClean="0"/>
          </a:p>
          <a:p>
            <a:r>
              <a:rPr lang="sr-Latn-RS" dirty="0" smtClean="0"/>
              <a:t>Upravlja</a:t>
            </a:r>
            <a:r>
              <a:rPr lang="en-US" dirty="0" smtClean="0"/>
              <a:t> se</a:t>
            </a:r>
            <a:r>
              <a:rPr lang="sr-Latn-RS" dirty="0" smtClean="0"/>
              <a:t>ku</a:t>
            </a:r>
            <a:r>
              <a:rPr lang="en-US" dirty="0" err="1" smtClean="0"/>
              <a:t>ndar</a:t>
            </a:r>
            <a:r>
              <a:rPr lang="sr-Latn-RS" dirty="0" smtClean="0"/>
              <a:t>nom</a:t>
            </a:r>
            <a:r>
              <a:rPr lang="en-US" dirty="0" smtClean="0"/>
              <a:t> </a:t>
            </a:r>
            <a:r>
              <a:rPr lang="en-US" dirty="0" err="1" smtClean="0"/>
              <a:t>memor</a:t>
            </a:r>
            <a:r>
              <a:rPr lang="sr-Latn-RS" dirty="0" smtClean="0"/>
              <a:t>ijom</a:t>
            </a:r>
            <a:r>
              <a:rPr lang="en-US" dirty="0" smtClean="0"/>
              <a:t> </a:t>
            </a:r>
            <a:r>
              <a:rPr lang="sr-Latn-RS" dirty="0" smtClean="0"/>
              <a:t>i U/I uređajima</a:t>
            </a:r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Operating System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Exploits the hardware resources of one or more processors</a:t>
            </a:r>
          </a:p>
          <a:p>
            <a:r>
              <a:rPr lang="en-US" dirty="0" smtClean="0"/>
              <a:t>Provides a set of services to system users</a:t>
            </a:r>
          </a:p>
          <a:p>
            <a:r>
              <a:rPr lang="en-US" dirty="0" smtClean="0"/>
              <a:t>Manages secondary memory and I/O devices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1575790626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1.1 Osnovni</a:t>
            </a:r>
            <a:r>
              <a:rPr lang="en-US" dirty="0" smtClean="0"/>
              <a:t> </a:t>
            </a:r>
            <a:r>
              <a:rPr lang="sr-Latn-RS" dirty="0" smtClean="0"/>
              <a:t>e</a:t>
            </a:r>
            <a:r>
              <a:rPr lang="en-US" dirty="0" err="1" smtClean="0"/>
              <a:t>lement</a:t>
            </a:r>
            <a:r>
              <a:rPr lang="sr-Latn-RS" dirty="0" smtClean="0"/>
              <a:t>i</a:t>
            </a:r>
            <a:endParaRPr lang="en-US" dirty="0" smtClean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Procesor</a:t>
            </a:r>
            <a:endParaRPr lang="sr-Latn-RS" dirty="0" smtClean="0"/>
          </a:p>
          <a:p>
            <a:r>
              <a:rPr lang="sr-Latn-RS" dirty="0" smtClean="0"/>
              <a:t>CPU </a:t>
            </a:r>
            <a:r>
              <a:rPr lang="sr-Latn-RS" sz="2800" i="1" dirty="0" smtClean="0"/>
              <a:t>(Central Processing Unit) </a:t>
            </a:r>
            <a:r>
              <a:rPr lang="sr-Latn-RS" sz="2800" dirty="0" smtClean="0"/>
              <a:t>–kada postoji samo jedan procesor)</a:t>
            </a:r>
            <a:endParaRPr lang="en-US" dirty="0" smtClean="0"/>
          </a:p>
          <a:p>
            <a:pPr lvl="1"/>
            <a:r>
              <a:rPr lang="sr-Latn-RS" dirty="0"/>
              <a:t>U</a:t>
            </a:r>
            <a:r>
              <a:rPr lang="en-US" dirty="0" smtClean="0"/>
              <a:t>/</a:t>
            </a:r>
            <a:r>
              <a:rPr lang="sr-Latn-RS" dirty="0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adres</a:t>
            </a:r>
            <a:r>
              <a:rPr lang="sr-Latn-RS" dirty="0" smtClean="0"/>
              <a:t>ni</a:t>
            </a:r>
            <a:r>
              <a:rPr lang="en-US" dirty="0" smtClean="0"/>
              <a:t> </a:t>
            </a:r>
            <a:r>
              <a:rPr lang="en-US" dirty="0" err="1" smtClean="0"/>
              <a:t>regist</a:t>
            </a:r>
            <a:r>
              <a:rPr lang="sr-Latn-RS" dirty="0" smtClean="0"/>
              <a:t>a</a:t>
            </a:r>
            <a:r>
              <a:rPr lang="en-US" dirty="0" smtClean="0"/>
              <a:t>r</a:t>
            </a:r>
          </a:p>
          <a:p>
            <a:pPr lvl="1"/>
            <a:r>
              <a:rPr lang="sr-Latn-RS" dirty="0"/>
              <a:t>U</a:t>
            </a:r>
            <a:r>
              <a:rPr lang="en-US" dirty="0"/>
              <a:t>/</a:t>
            </a:r>
            <a:r>
              <a:rPr lang="sr-Latn-RS" dirty="0"/>
              <a:t>I</a:t>
            </a:r>
            <a:r>
              <a:rPr lang="en-US" dirty="0"/>
              <a:t> </a:t>
            </a:r>
            <a:r>
              <a:rPr lang="sr-Latn-RS" dirty="0" smtClean="0"/>
              <a:t>bafer </a:t>
            </a:r>
            <a:r>
              <a:rPr lang="en-US" dirty="0" err="1" smtClean="0"/>
              <a:t>regist</a:t>
            </a:r>
            <a:r>
              <a:rPr lang="sr-Latn-RS" dirty="0"/>
              <a:t>a</a:t>
            </a:r>
            <a:r>
              <a:rPr lang="en-US" dirty="0" smtClean="0"/>
              <a:t>r</a:t>
            </a:r>
            <a:endParaRPr lang="sr-Latn-RS" dirty="0" smtClean="0"/>
          </a:p>
          <a:p>
            <a:pPr lvl="1"/>
            <a:endParaRPr lang="sr-Latn-RS" dirty="0"/>
          </a:p>
          <a:p>
            <a:pPr lvl="1"/>
            <a:endParaRPr lang="sr-Latn-RS" dirty="0" smtClean="0"/>
          </a:p>
          <a:p>
            <a:pPr lvl="1"/>
            <a:endParaRPr lang="sr-Latn-RS" dirty="0"/>
          </a:p>
          <a:p>
            <a:pPr lvl="1"/>
            <a:r>
              <a:rPr lang="sr-Latn-RS" sz="2000" dirty="0" smtClean="0"/>
              <a:t>Str.9</a:t>
            </a:r>
            <a:endParaRPr lang="en-US" sz="2000" dirty="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Osnovni</a:t>
            </a:r>
            <a:r>
              <a:rPr lang="en-US" dirty="0"/>
              <a:t> </a:t>
            </a:r>
            <a:r>
              <a:rPr lang="sr-Latn-RS" dirty="0"/>
              <a:t>e</a:t>
            </a:r>
            <a:r>
              <a:rPr lang="en-US" dirty="0" err="1"/>
              <a:t>lement</a:t>
            </a:r>
            <a:r>
              <a:rPr lang="sr-Latn-RS" dirty="0"/>
              <a:t>i</a:t>
            </a:r>
            <a:endParaRPr lang="en-US" dirty="0" smtClean="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Glavna</a:t>
            </a:r>
            <a:r>
              <a:rPr lang="en-US" dirty="0" smtClean="0"/>
              <a:t> </a:t>
            </a:r>
            <a:r>
              <a:rPr lang="sr-Latn-RS" dirty="0" smtClean="0"/>
              <a:t>(osnovna) m</a:t>
            </a:r>
            <a:r>
              <a:rPr lang="en-US" dirty="0" err="1" smtClean="0"/>
              <a:t>emo</a:t>
            </a:r>
            <a:r>
              <a:rPr lang="sr-Latn-RS" dirty="0" smtClean="0"/>
              <a:t>rija</a:t>
            </a:r>
            <a:endParaRPr lang="en-US" dirty="0" smtClean="0"/>
          </a:p>
          <a:p>
            <a:pPr lvl="1"/>
            <a:r>
              <a:rPr lang="sr-Latn-RS" dirty="0" smtClean="0"/>
              <a:t>Izbrisiva (nestalna)</a:t>
            </a:r>
            <a:endParaRPr lang="en-US" dirty="0" smtClean="0"/>
          </a:p>
          <a:p>
            <a:pPr lvl="1"/>
            <a:r>
              <a:rPr lang="sr-Latn-RS" dirty="0" smtClean="0"/>
              <a:t>Naziva se i stvarna</a:t>
            </a:r>
            <a:r>
              <a:rPr lang="en-US" dirty="0" smtClean="0"/>
              <a:t> </a:t>
            </a:r>
            <a:r>
              <a:rPr lang="en-US" dirty="0" err="1" smtClean="0"/>
              <a:t>memor</a:t>
            </a:r>
            <a:r>
              <a:rPr lang="sr-Latn-RS" dirty="0" smtClean="0"/>
              <a:t>ija</a:t>
            </a:r>
            <a:r>
              <a:rPr lang="en-US" dirty="0" smtClean="0"/>
              <a:t> </a:t>
            </a:r>
            <a:r>
              <a:rPr lang="sr-Latn-RS" dirty="0" smtClean="0"/>
              <a:t>ili</a:t>
            </a:r>
            <a:r>
              <a:rPr lang="en-US" dirty="0" smtClean="0"/>
              <a:t> </a:t>
            </a:r>
            <a:r>
              <a:rPr lang="sr-Latn-RS" dirty="0"/>
              <a:t>osnovna </a:t>
            </a:r>
            <a:r>
              <a:rPr lang="sr-Latn-RS" dirty="0" smtClean="0"/>
              <a:t>(</a:t>
            </a:r>
            <a:r>
              <a:rPr lang="en-US" i="1" dirty="0" smtClean="0"/>
              <a:t>primary</a:t>
            </a:r>
            <a:r>
              <a:rPr lang="sr-Latn-RS" dirty="0" smtClean="0"/>
              <a:t>)</a:t>
            </a:r>
            <a:r>
              <a:rPr lang="en-US" dirty="0" smtClean="0"/>
              <a:t> memory</a:t>
            </a: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Elements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Main Memory</a:t>
            </a:r>
          </a:p>
          <a:p>
            <a:pPr lvl="1"/>
            <a:r>
              <a:rPr lang="en-US" smtClean="0"/>
              <a:t>Volatile</a:t>
            </a:r>
          </a:p>
          <a:p>
            <a:pPr lvl="1"/>
            <a:r>
              <a:rPr lang="en-US" smtClean="0"/>
              <a:t>Referred to as real memory or primary memory</a:t>
            </a:r>
          </a:p>
        </p:txBody>
      </p:sp>
    </p:spTree>
    <p:extLst>
      <p:ext uri="{BB962C8B-B14F-4D97-AF65-F5344CB8AC3E}">
        <p14:creationId xmlns:p14="http://schemas.microsoft.com/office/powerpoint/2010/main" xmlns="" val="812024653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Osnovni</a:t>
            </a:r>
            <a:r>
              <a:rPr lang="en-US" dirty="0"/>
              <a:t> </a:t>
            </a:r>
            <a:r>
              <a:rPr lang="sr-Latn-RS" dirty="0"/>
              <a:t>e</a:t>
            </a:r>
            <a:r>
              <a:rPr lang="en-US" dirty="0" err="1"/>
              <a:t>lement</a:t>
            </a:r>
            <a:r>
              <a:rPr lang="sr-Latn-RS" dirty="0"/>
              <a:t>i</a:t>
            </a:r>
            <a:endParaRPr lang="en-US" dirty="0" smtClean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U</a:t>
            </a:r>
            <a:r>
              <a:rPr lang="en-US" dirty="0" smtClean="0"/>
              <a:t>/</a:t>
            </a:r>
            <a:r>
              <a:rPr lang="sr-Latn-RS" dirty="0" smtClean="0"/>
              <a:t>I</a:t>
            </a:r>
            <a:r>
              <a:rPr lang="en-US" dirty="0" smtClean="0"/>
              <a:t> </a:t>
            </a:r>
            <a:r>
              <a:rPr lang="sr-Latn-RS" dirty="0" smtClean="0"/>
              <a:t>m</a:t>
            </a:r>
            <a:r>
              <a:rPr lang="en-US" dirty="0" err="1" smtClean="0"/>
              <a:t>odul</a:t>
            </a:r>
            <a:r>
              <a:rPr lang="sr-Latn-RS" dirty="0" smtClean="0"/>
              <a:t>i</a:t>
            </a:r>
            <a:endParaRPr lang="en-US" dirty="0" smtClean="0"/>
          </a:p>
          <a:p>
            <a:pPr lvl="1"/>
            <a:r>
              <a:rPr lang="en-US" dirty="0" smtClean="0"/>
              <a:t>Sec</a:t>
            </a:r>
            <a:r>
              <a:rPr lang="sr-Latn-RS" dirty="0" smtClean="0"/>
              <a:t>u</a:t>
            </a:r>
            <a:r>
              <a:rPr lang="en-US" dirty="0" err="1" smtClean="0"/>
              <a:t>ndar</a:t>
            </a:r>
            <a:r>
              <a:rPr lang="sr-Latn-RS" dirty="0" smtClean="0"/>
              <a:t>na</a:t>
            </a:r>
            <a:r>
              <a:rPr lang="en-US" dirty="0" smtClean="0"/>
              <a:t> </a:t>
            </a:r>
            <a:r>
              <a:rPr lang="sr-Latn-RS" dirty="0"/>
              <a:t>m</a:t>
            </a:r>
            <a:r>
              <a:rPr lang="en-US" dirty="0" err="1" smtClean="0"/>
              <a:t>emor</a:t>
            </a:r>
            <a:r>
              <a:rPr lang="sr-Latn-RS" dirty="0" smtClean="0"/>
              <a:t>ija</a:t>
            </a:r>
          </a:p>
          <a:p>
            <a:pPr lvl="1"/>
            <a:r>
              <a:rPr lang="sr-Latn-RS" dirty="0" smtClean="0"/>
              <a:t>K</a:t>
            </a:r>
            <a:r>
              <a:rPr lang="en-US" dirty="0" err="1" smtClean="0"/>
              <a:t>omuni</a:t>
            </a:r>
            <a:r>
              <a:rPr lang="sr-Latn-RS" dirty="0" smtClean="0"/>
              <a:t>k</a:t>
            </a:r>
            <a:r>
              <a:rPr lang="en-US" dirty="0" err="1" smtClean="0"/>
              <a:t>ation</a:t>
            </a:r>
            <a:r>
              <a:rPr lang="sr-Latn-RS" dirty="0" smtClean="0"/>
              <a:t>a</a:t>
            </a:r>
            <a:r>
              <a:rPr lang="en-US" dirty="0" smtClean="0"/>
              <a:t> </a:t>
            </a:r>
            <a:r>
              <a:rPr lang="sr-Latn-RS" dirty="0" smtClean="0"/>
              <a:t>oprema</a:t>
            </a:r>
            <a:endParaRPr lang="en-US" dirty="0" smtClean="0"/>
          </a:p>
          <a:p>
            <a:pPr lvl="1"/>
            <a:r>
              <a:rPr lang="en-US" dirty="0" smtClean="0"/>
              <a:t>Terminal</a:t>
            </a:r>
            <a:r>
              <a:rPr lang="sr-Latn-RS" dirty="0" smtClean="0"/>
              <a:t>i</a:t>
            </a:r>
            <a:endParaRPr lang="en-US" dirty="0" smtClean="0"/>
          </a:p>
          <a:p>
            <a:r>
              <a:rPr lang="en-US" dirty="0" smtClean="0"/>
              <a:t>S</a:t>
            </a:r>
            <a:r>
              <a:rPr lang="sr-Latn-RS" dirty="0" smtClean="0"/>
              <a:t>i</a:t>
            </a:r>
            <a:r>
              <a:rPr lang="en-US" dirty="0" smtClean="0"/>
              <a:t>stem</a:t>
            </a:r>
            <a:r>
              <a:rPr lang="sr-Latn-RS" dirty="0" smtClean="0"/>
              <a:t>ska</a:t>
            </a:r>
            <a:r>
              <a:rPr lang="en-US" dirty="0" smtClean="0"/>
              <a:t> </a:t>
            </a:r>
            <a:r>
              <a:rPr lang="sr-Latn-RS" dirty="0" smtClean="0"/>
              <a:t>magistrala</a:t>
            </a:r>
            <a:endParaRPr lang="en-US" dirty="0" smtClean="0"/>
          </a:p>
          <a:p>
            <a:pPr lvl="1"/>
            <a:r>
              <a:rPr lang="sr-Latn-RS" dirty="0" smtClean="0"/>
              <a:t>Omogućava k</a:t>
            </a:r>
            <a:r>
              <a:rPr lang="en-US" dirty="0" err="1" smtClean="0"/>
              <a:t>omuni</a:t>
            </a:r>
            <a:r>
              <a:rPr lang="sr-Latn-RS" dirty="0" smtClean="0"/>
              <a:t>k</a:t>
            </a:r>
            <a:r>
              <a:rPr lang="en-US" dirty="0" smtClean="0"/>
              <a:t>a</a:t>
            </a:r>
            <a:r>
              <a:rPr lang="sr-Latn-RS" dirty="0" smtClean="0"/>
              <a:t>c</a:t>
            </a:r>
            <a:r>
              <a:rPr lang="en-US" dirty="0" smtClean="0"/>
              <a:t>i</a:t>
            </a:r>
            <a:r>
              <a:rPr lang="sr-Latn-RS" dirty="0" smtClean="0"/>
              <a:t>ju</a:t>
            </a:r>
            <a:r>
              <a:rPr lang="en-US" dirty="0" smtClean="0"/>
              <a:t> </a:t>
            </a:r>
            <a:r>
              <a:rPr lang="sr-Latn-RS" dirty="0" smtClean="0"/>
              <a:t>između </a:t>
            </a:r>
            <a:r>
              <a:rPr lang="en-US" dirty="0" err="1" smtClean="0"/>
              <a:t>procesor</a:t>
            </a:r>
            <a:r>
              <a:rPr lang="sr-Latn-RS" dirty="0" smtClean="0"/>
              <a:t>a</a:t>
            </a:r>
            <a:r>
              <a:rPr lang="en-US" dirty="0" smtClean="0"/>
              <a:t>, </a:t>
            </a:r>
            <a:r>
              <a:rPr lang="sr-Latn-RS" dirty="0" smtClean="0"/>
              <a:t>glavne</a:t>
            </a:r>
            <a:r>
              <a:rPr lang="en-US" dirty="0" smtClean="0"/>
              <a:t> </a:t>
            </a:r>
            <a:r>
              <a:rPr lang="en-US" dirty="0" err="1" smtClean="0"/>
              <a:t>memor</a:t>
            </a:r>
            <a:r>
              <a:rPr lang="sr-Latn-RS" dirty="0" smtClean="0"/>
              <a:t>ije</a:t>
            </a:r>
            <a:r>
              <a:rPr lang="en-US" dirty="0" smtClean="0"/>
              <a:t>, </a:t>
            </a:r>
            <a:r>
              <a:rPr lang="sr-Latn-RS" dirty="0" smtClean="0"/>
              <a:t>i</a:t>
            </a:r>
            <a:r>
              <a:rPr lang="en-US" dirty="0" smtClean="0"/>
              <a:t> </a:t>
            </a:r>
            <a:r>
              <a:rPr lang="sr-Latn-RS" dirty="0"/>
              <a:t>U</a:t>
            </a:r>
            <a:r>
              <a:rPr lang="en-US" dirty="0" smtClean="0"/>
              <a:t>/</a:t>
            </a:r>
            <a:r>
              <a:rPr lang="sr-Latn-RS" dirty="0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modul</a:t>
            </a:r>
            <a:r>
              <a:rPr lang="sr-Latn-RS" dirty="0" smtClean="0"/>
              <a:t>a</a:t>
            </a:r>
          </a:p>
          <a:p>
            <a:pPr lvl="1"/>
            <a:endParaRPr lang="sr-Latn-RS" dirty="0"/>
          </a:p>
          <a:p>
            <a:pPr lvl="1"/>
            <a:r>
              <a:rPr lang="sr-Latn-RS" sz="2000" dirty="0" smtClean="0"/>
              <a:t>Str.9</a:t>
            </a:r>
            <a:endParaRPr lang="en-US" sz="2000" dirty="0" smtClean="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Elements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I/O Modules</a:t>
            </a:r>
          </a:p>
          <a:p>
            <a:pPr lvl="1"/>
            <a:r>
              <a:rPr lang="en-US" smtClean="0"/>
              <a:t>Secondary Memory Devices</a:t>
            </a:r>
          </a:p>
          <a:p>
            <a:pPr lvl="1"/>
            <a:r>
              <a:rPr lang="en-US" smtClean="0"/>
              <a:t>Communications equipment</a:t>
            </a:r>
          </a:p>
          <a:p>
            <a:pPr lvl="1"/>
            <a:r>
              <a:rPr lang="en-US" smtClean="0"/>
              <a:t>Terminals</a:t>
            </a:r>
          </a:p>
          <a:p>
            <a:r>
              <a:rPr lang="en-US" smtClean="0"/>
              <a:t>System bus</a:t>
            </a:r>
          </a:p>
          <a:p>
            <a:pPr lvl="1"/>
            <a:r>
              <a:rPr lang="en-US" smtClean="0"/>
              <a:t>Communication among processors, main memory, and I/O modules</a:t>
            </a:r>
          </a:p>
        </p:txBody>
      </p:sp>
    </p:spTree>
    <p:extLst>
      <p:ext uri="{BB962C8B-B14F-4D97-AF65-F5344CB8AC3E}">
        <p14:creationId xmlns:p14="http://schemas.microsoft.com/office/powerpoint/2010/main" xmlns="" val="1911447719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K</a:t>
            </a:r>
            <a:r>
              <a:rPr lang="en-US" dirty="0" err="1" smtClean="0"/>
              <a:t>omponent</a:t>
            </a:r>
            <a:r>
              <a:rPr lang="sr-Latn-RS" dirty="0" smtClean="0"/>
              <a:t>e računara</a:t>
            </a:r>
            <a:r>
              <a:rPr lang="en-US" dirty="0" smtClean="0"/>
              <a:t>: </a:t>
            </a:r>
            <a:r>
              <a:rPr lang="sr-Latn-RS" dirty="0" smtClean="0"/>
              <a:t>pogled sa najvišeg nivoa</a:t>
            </a:r>
            <a:endParaRPr lang="en-US" dirty="0" smtClean="0"/>
          </a:p>
        </p:txBody>
      </p:sp>
      <p:pic>
        <p:nvPicPr>
          <p:cNvPr id="10243" name="Content Placeholder 3" descr="Fig01_01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992364" y="1600200"/>
            <a:ext cx="4928545" cy="5181600"/>
          </a:xfrm>
        </p:spPr>
      </p:pic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Computer Components: Top-Level View</a:t>
            </a:r>
          </a:p>
        </p:txBody>
      </p:sp>
      <p:pic>
        <p:nvPicPr>
          <p:cNvPr id="10243" name="Content Placeholder 3" descr="Fig01_01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992364" y="1600200"/>
            <a:ext cx="4928545" cy="5181600"/>
          </a:xfrm>
        </p:spPr>
      </p:pic>
    </p:spTree>
    <p:extLst>
      <p:ext uri="{BB962C8B-B14F-4D97-AF65-F5344CB8AC3E}">
        <p14:creationId xmlns:p14="http://schemas.microsoft.com/office/powerpoint/2010/main" xmlns="" val="2312611361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1.2 </a:t>
            </a:r>
            <a:r>
              <a:rPr lang="en-US" dirty="0" err="1" smtClean="0"/>
              <a:t>Procesor</a:t>
            </a:r>
            <a:r>
              <a:rPr lang="sr-Latn-RS" dirty="0" smtClean="0"/>
              <a:t>ski</a:t>
            </a:r>
            <a:r>
              <a:rPr lang="en-US" dirty="0" smtClean="0"/>
              <a:t> </a:t>
            </a:r>
            <a:r>
              <a:rPr lang="sr-Latn-RS" dirty="0" err="1"/>
              <a:t>r</a:t>
            </a:r>
            <a:r>
              <a:rPr lang="en-US" dirty="0" err="1" smtClean="0"/>
              <a:t>egistr</a:t>
            </a:r>
            <a:r>
              <a:rPr lang="sr-Latn-RS" dirty="0" smtClean="0"/>
              <a:t>i</a:t>
            </a:r>
            <a:endParaRPr lang="en-US" dirty="0" smtClean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R</a:t>
            </a:r>
            <a:r>
              <a:rPr lang="en-US" dirty="0" err="1" smtClean="0"/>
              <a:t>egistr</a:t>
            </a:r>
            <a:r>
              <a:rPr lang="sr-Latn-RS" dirty="0" smtClean="0"/>
              <a:t>i vidljivi korisniku</a:t>
            </a:r>
            <a:endParaRPr lang="sr-Latn-RS" dirty="0"/>
          </a:p>
          <a:p>
            <a:pPr lvl="1"/>
            <a:r>
              <a:rPr lang="sr-Latn-RS" dirty="0" smtClean="0"/>
              <a:t>Omogućavaju </a:t>
            </a:r>
            <a:r>
              <a:rPr lang="en-US" dirty="0" err="1" smtClean="0"/>
              <a:t>programer</a:t>
            </a:r>
            <a:r>
              <a:rPr lang="sr-Latn-RS" dirty="0" smtClean="0"/>
              <a:t>u da </a:t>
            </a:r>
            <a:r>
              <a:rPr lang="en-US" dirty="0" err="1" smtClean="0"/>
              <a:t>minimiz</a:t>
            </a:r>
            <a:r>
              <a:rPr lang="sr-Latn-RS" dirty="0" smtClean="0"/>
              <a:t>uje</a:t>
            </a:r>
            <a:r>
              <a:rPr lang="en-US" dirty="0" smtClean="0"/>
              <a:t> </a:t>
            </a:r>
            <a:r>
              <a:rPr lang="sr-Latn-RS" dirty="0" smtClean="0"/>
              <a:t>adresiranje glavne</a:t>
            </a:r>
            <a:r>
              <a:rPr lang="en-US" dirty="0" smtClean="0"/>
              <a:t> </a:t>
            </a:r>
            <a:r>
              <a:rPr lang="en-US" dirty="0" err="1" smtClean="0"/>
              <a:t>memor</a:t>
            </a:r>
            <a:r>
              <a:rPr lang="sr-Latn-RS" dirty="0" smtClean="0"/>
              <a:t>ije</a:t>
            </a:r>
            <a:r>
              <a:rPr lang="en-US" dirty="0" smtClean="0"/>
              <a:t> </a:t>
            </a:r>
            <a:r>
              <a:rPr lang="en-US" dirty="0" err="1" smtClean="0"/>
              <a:t>optimiz</a:t>
            </a:r>
            <a:r>
              <a:rPr lang="sr-Latn-RS" dirty="0" smtClean="0"/>
              <a:t>acijom upotrebe </a:t>
            </a:r>
            <a:r>
              <a:rPr lang="en-US" dirty="0" err="1" smtClean="0"/>
              <a:t>regist</a:t>
            </a:r>
            <a:r>
              <a:rPr lang="sr-Latn-RS" dirty="0" smtClean="0"/>
              <a:t>ara</a:t>
            </a:r>
            <a:endParaRPr lang="en-US" dirty="0" smtClean="0"/>
          </a:p>
          <a:p>
            <a:r>
              <a:rPr lang="sr-Latn-RS" dirty="0" smtClean="0"/>
              <a:t>Upravljački i </a:t>
            </a:r>
            <a:r>
              <a:rPr lang="en-US" dirty="0" smtClean="0"/>
              <a:t>status</a:t>
            </a:r>
            <a:r>
              <a:rPr lang="sr-Latn-RS" dirty="0" smtClean="0"/>
              <a:t>ni</a:t>
            </a:r>
            <a:r>
              <a:rPr lang="en-US" dirty="0" smtClean="0"/>
              <a:t> </a:t>
            </a:r>
            <a:r>
              <a:rPr lang="en-US" dirty="0" err="1" smtClean="0"/>
              <a:t>registr</a:t>
            </a:r>
            <a:r>
              <a:rPr lang="sr-Latn-RS" dirty="0" smtClean="0"/>
              <a:t>i</a:t>
            </a:r>
            <a:endParaRPr lang="en-US" dirty="0" smtClean="0"/>
          </a:p>
          <a:p>
            <a:pPr lvl="1"/>
            <a:r>
              <a:rPr lang="sr-Latn-RS" dirty="0" smtClean="0"/>
              <a:t>Koriste ih </a:t>
            </a:r>
            <a:r>
              <a:rPr lang="en-US" dirty="0" err="1" smtClean="0"/>
              <a:t>procesor</a:t>
            </a:r>
            <a:r>
              <a:rPr lang="en-US" dirty="0" smtClean="0"/>
              <a:t> </a:t>
            </a:r>
            <a:r>
              <a:rPr lang="sr-Latn-RS" dirty="0" smtClean="0"/>
              <a:t>da bi upravljao operacijama </a:t>
            </a:r>
            <a:r>
              <a:rPr lang="en-US" dirty="0" err="1" smtClean="0"/>
              <a:t>procesor</a:t>
            </a:r>
            <a:r>
              <a:rPr lang="sr-Latn-RS" dirty="0" smtClean="0"/>
              <a:t>a</a:t>
            </a:r>
            <a:endParaRPr lang="en-US" dirty="0" smtClean="0"/>
          </a:p>
          <a:p>
            <a:pPr lvl="1"/>
            <a:r>
              <a:rPr lang="sr-Latn-RS" dirty="0"/>
              <a:t>Koriste ih </a:t>
            </a:r>
            <a:r>
              <a:rPr lang="en-US" dirty="0" err="1" smtClean="0"/>
              <a:t>privileg</a:t>
            </a:r>
            <a:r>
              <a:rPr lang="sr-Latn-RS" dirty="0" smtClean="0"/>
              <a:t>ovane</a:t>
            </a:r>
            <a:r>
              <a:rPr lang="en-US" dirty="0" smtClean="0"/>
              <a:t> OS </a:t>
            </a:r>
            <a:r>
              <a:rPr lang="en-US" dirty="0" err="1" smtClean="0"/>
              <a:t>rutine</a:t>
            </a:r>
            <a:r>
              <a:rPr lang="en-US" dirty="0" smtClean="0"/>
              <a:t> </a:t>
            </a:r>
            <a:r>
              <a:rPr lang="sr-Latn-RS" dirty="0" smtClean="0"/>
              <a:t>da bi upravljale izvršavanjem </a:t>
            </a:r>
            <a:r>
              <a:rPr lang="en-US" dirty="0" smtClean="0"/>
              <a:t>program</a:t>
            </a:r>
            <a:r>
              <a:rPr lang="sr-Latn-RS" dirty="0" smtClean="0"/>
              <a:t>a</a:t>
            </a:r>
          </a:p>
          <a:p>
            <a:pPr lvl="1"/>
            <a:r>
              <a:rPr lang="sr-Latn-RS" sz="2000" dirty="0" smtClean="0"/>
              <a:t>Str.10</a:t>
            </a:r>
            <a:endParaRPr lang="en-US" sz="2000" dirty="0" smtClean="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1.2 </a:t>
            </a:r>
            <a:r>
              <a:rPr lang="en-US" dirty="0" err="1" smtClean="0"/>
              <a:t>Procesor</a:t>
            </a:r>
            <a:r>
              <a:rPr lang="sr-Latn-RS" dirty="0" smtClean="0"/>
              <a:t>ski</a:t>
            </a:r>
            <a:r>
              <a:rPr lang="en-US" dirty="0" smtClean="0"/>
              <a:t> </a:t>
            </a:r>
            <a:r>
              <a:rPr lang="sr-Latn-RS" dirty="0" err="1"/>
              <a:t>r</a:t>
            </a:r>
            <a:r>
              <a:rPr lang="en-US" dirty="0" err="1" smtClean="0"/>
              <a:t>egistr</a:t>
            </a:r>
            <a:r>
              <a:rPr lang="sr-Latn-RS" dirty="0" smtClean="0"/>
              <a:t>i</a:t>
            </a:r>
            <a:endParaRPr lang="en-US" dirty="0" smtClean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User-visible registers</a:t>
            </a:r>
          </a:p>
          <a:p>
            <a:pPr lvl="1"/>
            <a:r>
              <a:rPr lang="en-US" dirty="0" smtClean="0"/>
              <a:t>Enable programmer to minimize main memory references by optimizing register use</a:t>
            </a:r>
          </a:p>
          <a:p>
            <a:r>
              <a:rPr lang="en-US" dirty="0" smtClean="0"/>
              <a:t>Control and status registers</a:t>
            </a:r>
          </a:p>
          <a:p>
            <a:pPr lvl="1"/>
            <a:r>
              <a:rPr lang="en-US" dirty="0" smtClean="0"/>
              <a:t>Used by processor to control operating of the processor</a:t>
            </a:r>
          </a:p>
          <a:p>
            <a:pPr lvl="1"/>
            <a:r>
              <a:rPr lang="en-US" dirty="0" smtClean="0"/>
              <a:t>Used by privileged OS routines to control the execution of programs</a:t>
            </a:r>
          </a:p>
        </p:txBody>
      </p:sp>
    </p:spTree>
    <p:extLst>
      <p:ext uri="{BB962C8B-B14F-4D97-AF65-F5344CB8AC3E}">
        <p14:creationId xmlns:p14="http://schemas.microsoft.com/office/powerpoint/2010/main" xmlns="" val="1060637491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User-Visible Registers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May be referenced by machine language</a:t>
            </a:r>
          </a:p>
          <a:p>
            <a:r>
              <a:rPr lang="en-US" smtClean="0"/>
              <a:t>Available to all programs – application programs and system programs</a:t>
            </a: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</a:t>
            </a:r>
            <a:r>
              <a:rPr lang="en-US" dirty="0" err="1"/>
              <a:t>egistr</a:t>
            </a:r>
            <a:r>
              <a:rPr lang="sr-Latn-RS" dirty="0"/>
              <a:t>i vidljivi korisniku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</a:t>
            </a:r>
            <a:r>
              <a:rPr lang="sr-Latn-RS" dirty="0" smtClean="0"/>
              <a:t>ogu se adresirati pomoću </a:t>
            </a:r>
            <a:r>
              <a:rPr lang="en-US" dirty="0" smtClean="0"/>
              <a:t>ma</a:t>
            </a:r>
            <a:r>
              <a:rPr lang="sr-Latn-RS" dirty="0" smtClean="0"/>
              <a:t>š</a:t>
            </a:r>
            <a:r>
              <a:rPr lang="en-US" dirty="0" smtClean="0"/>
              <a:t>in</a:t>
            </a:r>
            <a:r>
              <a:rPr lang="sr-Latn-RS" dirty="0" smtClean="0"/>
              <a:t>skog</a:t>
            </a:r>
            <a:r>
              <a:rPr lang="en-US" dirty="0" smtClean="0"/>
              <a:t> </a:t>
            </a:r>
            <a:r>
              <a:rPr lang="sr-Latn-RS" dirty="0" smtClean="0"/>
              <a:t>jezika</a:t>
            </a:r>
            <a:endParaRPr lang="en-US" dirty="0" smtClean="0"/>
          </a:p>
          <a:p>
            <a:r>
              <a:rPr lang="sr-Latn-RS" dirty="0" smtClean="0"/>
              <a:t>Dostupni su svim programima, kako </a:t>
            </a:r>
            <a:r>
              <a:rPr lang="en-US" dirty="0" err="1" smtClean="0"/>
              <a:t>apli</a:t>
            </a:r>
            <a:r>
              <a:rPr lang="sr-Latn-RS" dirty="0" smtClean="0"/>
              <a:t>k</a:t>
            </a:r>
            <a:r>
              <a:rPr lang="en-US" dirty="0" err="1" smtClean="0"/>
              <a:t>ati</a:t>
            </a:r>
            <a:r>
              <a:rPr lang="sr-Latn-RS" dirty="0" smtClean="0"/>
              <a:t>vnim</a:t>
            </a:r>
            <a:r>
              <a:rPr lang="en-US" dirty="0" smtClean="0"/>
              <a:t> </a:t>
            </a:r>
            <a:r>
              <a:rPr lang="sr-Latn-RS" dirty="0" smtClean="0"/>
              <a:t>tako i </a:t>
            </a:r>
            <a:r>
              <a:rPr lang="en-US" dirty="0" smtClean="0"/>
              <a:t>s</a:t>
            </a:r>
            <a:r>
              <a:rPr lang="sr-Latn-RS" dirty="0" smtClean="0"/>
              <a:t>i</a:t>
            </a:r>
            <a:r>
              <a:rPr lang="en-US" dirty="0" smtClean="0"/>
              <a:t>stem</a:t>
            </a:r>
            <a:r>
              <a:rPr lang="sr-Latn-RS" dirty="0" smtClean="0"/>
              <a:t>skim</a:t>
            </a:r>
            <a:r>
              <a:rPr lang="en-US" dirty="0" smtClean="0"/>
              <a:t> program</a:t>
            </a:r>
            <a:r>
              <a:rPr lang="sr-Latn-RS" dirty="0" smtClean="0"/>
              <a:t>ima</a:t>
            </a:r>
          </a:p>
          <a:p>
            <a:endParaRPr lang="sr-Latn-RS" dirty="0"/>
          </a:p>
          <a:p>
            <a:endParaRPr lang="sr-Latn-RS" dirty="0" smtClean="0"/>
          </a:p>
          <a:p>
            <a:endParaRPr lang="sr-Latn-RS" dirty="0"/>
          </a:p>
          <a:p>
            <a:pPr lvl="1"/>
            <a:r>
              <a:rPr lang="sr-Latn-RS" sz="1600" dirty="0" smtClean="0"/>
              <a:t>Str.11</a:t>
            </a: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xmlns="" val="247750112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</a:t>
            </a:r>
            <a:r>
              <a:rPr lang="en-US" dirty="0" err="1"/>
              <a:t>egistr</a:t>
            </a:r>
            <a:r>
              <a:rPr lang="sr-Latn-RS" dirty="0"/>
              <a:t>i vidljivi korisniku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Registri podataka</a:t>
            </a:r>
            <a:endParaRPr lang="en-US" dirty="0" smtClean="0"/>
          </a:p>
          <a:p>
            <a:r>
              <a:rPr lang="en-US" dirty="0" err="1" smtClean="0"/>
              <a:t>Adre</a:t>
            </a:r>
            <a:r>
              <a:rPr lang="sr-Latn-RS" dirty="0" smtClean="0"/>
              <a:t>ni registri</a:t>
            </a:r>
            <a:endParaRPr lang="en-US" dirty="0" smtClean="0"/>
          </a:p>
          <a:p>
            <a:pPr lvl="1"/>
            <a:r>
              <a:rPr lang="en-US" dirty="0" err="1" smtClean="0"/>
              <a:t>Inde</a:t>
            </a:r>
            <a:r>
              <a:rPr lang="sr-Latn-RS" dirty="0" smtClean="0"/>
              <a:t>ksni</a:t>
            </a:r>
            <a:r>
              <a:rPr lang="en-US" dirty="0" smtClean="0"/>
              <a:t> </a:t>
            </a:r>
            <a:r>
              <a:rPr lang="en-US" dirty="0" err="1" smtClean="0"/>
              <a:t>regist</a:t>
            </a:r>
            <a:r>
              <a:rPr lang="sr-Latn-RS" dirty="0" smtClean="0"/>
              <a:t>a</a:t>
            </a:r>
            <a:r>
              <a:rPr lang="en-US" dirty="0" smtClean="0"/>
              <a:t>r: </a:t>
            </a:r>
            <a:r>
              <a:rPr lang="sr-Latn-RS" dirty="0" smtClean="0"/>
              <a:t>Dodaje </a:t>
            </a:r>
            <a:r>
              <a:rPr lang="en-US" dirty="0" err="1" smtClean="0"/>
              <a:t>inde</a:t>
            </a:r>
            <a:r>
              <a:rPr lang="sr-Latn-RS" dirty="0" smtClean="0"/>
              <a:t>ks</a:t>
            </a:r>
            <a:r>
              <a:rPr lang="en-US" dirty="0" smtClean="0"/>
              <a:t> </a:t>
            </a:r>
            <a:r>
              <a:rPr lang="sr-Latn-RS" dirty="0" smtClean="0"/>
              <a:t>osnovnoj vrednosti kako bi se dobila </a:t>
            </a:r>
            <a:r>
              <a:rPr lang="en-US" dirty="0" err="1" smtClean="0"/>
              <a:t>efe</a:t>
            </a:r>
            <a:r>
              <a:rPr lang="sr-Latn-RS" dirty="0" smtClean="0"/>
              <a:t>k</a:t>
            </a:r>
            <a:r>
              <a:rPr lang="en-US" dirty="0" err="1" smtClean="0"/>
              <a:t>tiv</a:t>
            </a:r>
            <a:r>
              <a:rPr lang="sr-Latn-RS" dirty="0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adres</a:t>
            </a:r>
            <a:r>
              <a:rPr lang="sr-Latn-RS" dirty="0" smtClean="0"/>
              <a:t>a</a:t>
            </a:r>
            <a:endParaRPr lang="en-US" dirty="0" smtClean="0"/>
          </a:p>
          <a:p>
            <a:pPr lvl="1"/>
            <a:r>
              <a:rPr lang="sr-Latn-RS" dirty="0" smtClean="0"/>
              <a:t>Pokazivač </a:t>
            </a:r>
            <a:r>
              <a:rPr lang="sr-Latn-RS" i="1" dirty="0" smtClean="0"/>
              <a:t>(</a:t>
            </a:r>
            <a:r>
              <a:rPr lang="en-US" i="1" dirty="0" smtClean="0"/>
              <a:t>pointer</a:t>
            </a:r>
            <a:r>
              <a:rPr lang="sr-Latn-RS" i="1" dirty="0" smtClean="0"/>
              <a:t>)</a:t>
            </a:r>
            <a:r>
              <a:rPr lang="sr-Latn-RS" dirty="0" smtClean="0"/>
              <a:t> s</a:t>
            </a:r>
            <a:r>
              <a:rPr lang="en-US" dirty="0" err="1" smtClean="0"/>
              <a:t>egment</a:t>
            </a:r>
            <a:r>
              <a:rPr lang="sr-Latn-RS" dirty="0" smtClean="0"/>
              <a:t>a</a:t>
            </a:r>
            <a:r>
              <a:rPr lang="en-US" dirty="0" smtClean="0"/>
              <a:t>: </a:t>
            </a:r>
            <a:r>
              <a:rPr lang="sr-Latn-RS" dirty="0" smtClean="0"/>
              <a:t>Kada je</a:t>
            </a:r>
            <a:r>
              <a:rPr lang="en-US" dirty="0" smtClean="0"/>
              <a:t> memo</a:t>
            </a:r>
            <a:r>
              <a:rPr lang="sr-Latn-RS" dirty="0" smtClean="0"/>
              <a:t>ija</a:t>
            </a:r>
            <a:r>
              <a:rPr lang="en-US" dirty="0" smtClean="0"/>
              <a:t> </a:t>
            </a:r>
            <a:r>
              <a:rPr lang="sr-Latn-RS" dirty="0" smtClean="0"/>
              <a:t>podeljena u</a:t>
            </a:r>
            <a:r>
              <a:rPr lang="sr-Latn-RS" dirty="0"/>
              <a:t> </a:t>
            </a:r>
            <a:r>
              <a:rPr lang="sr-Latn-RS" dirty="0" smtClean="0"/>
              <a:t>delove</a:t>
            </a:r>
            <a:r>
              <a:rPr lang="en-US" dirty="0" smtClean="0"/>
              <a:t>, </a:t>
            </a:r>
            <a:r>
              <a:rPr lang="en-US" dirty="0" err="1" smtClean="0"/>
              <a:t>memor</a:t>
            </a:r>
            <a:r>
              <a:rPr lang="sr-Latn-RS" dirty="0" smtClean="0"/>
              <a:t>ijska </a:t>
            </a:r>
            <a:r>
              <a:rPr lang="en-US" dirty="0" err="1" smtClean="0"/>
              <a:t>referenc</a:t>
            </a:r>
            <a:r>
              <a:rPr lang="sr-Latn-RS" dirty="0" smtClean="0"/>
              <a:t>a</a:t>
            </a:r>
            <a:r>
              <a:rPr lang="en-US" dirty="0" smtClean="0"/>
              <a:t> </a:t>
            </a:r>
            <a:r>
              <a:rPr lang="sr-Latn-RS" dirty="0" smtClean="0"/>
              <a:t>sastoji se od adrese određenog </a:t>
            </a:r>
            <a:r>
              <a:rPr lang="en-US" dirty="0" smtClean="0"/>
              <a:t>segment</a:t>
            </a:r>
            <a:r>
              <a:rPr lang="sr-Latn-RS" dirty="0" smtClean="0"/>
              <a:t>a</a:t>
            </a:r>
            <a:r>
              <a:rPr lang="en-US" dirty="0" smtClean="0"/>
              <a:t> </a:t>
            </a:r>
            <a:r>
              <a:rPr lang="sr-Latn-RS" dirty="0" smtClean="0"/>
              <a:t>i pomeraja </a:t>
            </a:r>
            <a:r>
              <a:rPr lang="sr-Latn-RS" i="1" dirty="0" smtClean="0"/>
              <a:t>(</a:t>
            </a:r>
            <a:r>
              <a:rPr lang="en-US" i="1" dirty="0" smtClean="0"/>
              <a:t>offset</a:t>
            </a:r>
            <a:r>
              <a:rPr lang="sr-Latn-RS" i="1" dirty="0" smtClean="0"/>
              <a:t>) </a:t>
            </a:r>
            <a:r>
              <a:rPr lang="sr-Latn-RS" dirty="0" smtClean="0"/>
              <a:t>unutar njega</a:t>
            </a:r>
            <a:endParaRPr lang="en-US" i="1" dirty="0" smtClean="0"/>
          </a:p>
          <a:p>
            <a:pPr lvl="1"/>
            <a:r>
              <a:rPr lang="sr-Latn-RS" dirty="0" smtClean="0"/>
              <a:t>Pokazivač s</a:t>
            </a:r>
            <a:r>
              <a:rPr lang="en-US" dirty="0" smtClean="0"/>
              <a:t>t</a:t>
            </a:r>
            <a:r>
              <a:rPr lang="sr-Latn-RS" dirty="0" smtClean="0"/>
              <a:t>eka</a:t>
            </a:r>
            <a:r>
              <a:rPr lang="en-US" dirty="0" smtClean="0"/>
              <a:t>: Po</a:t>
            </a:r>
            <a:r>
              <a:rPr lang="sr-Latn-RS" dirty="0" smtClean="0"/>
              <a:t>kazuje na vrh </a:t>
            </a:r>
            <a:r>
              <a:rPr lang="en-US" dirty="0" err="1" smtClean="0"/>
              <a:t>st</a:t>
            </a:r>
            <a:r>
              <a:rPr lang="sr-Latn-RS" dirty="0" smtClean="0"/>
              <a:t>e</a:t>
            </a:r>
            <a:r>
              <a:rPr lang="en-US" dirty="0" smtClean="0"/>
              <a:t>k</a:t>
            </a:r>
            <a:r>
              <a:rPr lang="sr-Latn-RS" dirty="0" smtClean="0"/>
              <a:t>a</a:t>
            </a:r>
          </a:p>
          <a:p>
            <a:pPr lvl="1"/>
            <a:r>
              <a:rPr lang="sr-Latn-RS" sz="2000" dirty="0" smtClean="0"/>
              <a:t>Str.11</a:t>
            </a:r>
            <a:endParaRPr lang="en-US" sz="2000" dirty="0" smtClean="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User-Visible Registers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</a:t>
            </a:r>
          </a:p>
          <a:p>
            <a:r>
              <a:rPr lang="en-US" dirty="0" smtClean="0"/>
              <a:t>Address</a:t>
            </a:r>
          </a:p>
          <a:p>
            <a:pPr lvl="1"/>
            <a:r>
              <a:rPr lang="en-US" dirty="0" smtClean="0"/>
              <a:t>Index register: Adding an index to a base value to get the effective address</a:t>
            </a:r>
          </a:p>
          <a:p>
            <a:pPr lvl="1"/>
            <a:r>
              <a:rPr lang="en-US" dirty="0" smtClean="0"/>
              <a:t>Segment pointer: When memory is divided into segments, memory is referenced by a segment and an offset</a:t>
            </a:r>
          </a:p>
          <a:p>
            <a:pPr lvl="1"/>
            <a:r>
              <a:rPr lang="en-US" dirty="0" smtClean="0"/>
              <a:t>Stack pointer: Points to top of stack</a:t>
            </a:r>
          </a:p>
        </p:txBody>
      </p:sp>
    </p:spTree>
    <p:extLst>
      <p:ext uri="{BB962C8B-B14F-4D97-AF65-F5344CB8AC3E}">
        <p14:creationId xmlns:p14="http://schemas.microsoft.com/office/powerpoint/2010/main" xmlns="" val="3521889569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Upravljački i </a:t>
            </a:r>
            <a:r>
              <a:rPr lang="en-US" dirty="0"/>
              <a:t>status</a:t>
            </a:r>
            <a:r>
              <a:rPr lang="sr-Latn-RS" dirty="0"/>
              <a:t>ni</a:t>
            </a:r>
            <a:r>
              <a:rPr lang="en-US" dirty="0"/>
              <a:t> </a:t>
            </a:r>
            <a:r>
              <a:rPr lang="en-US" dirty="0" err="1"/>
              <a:t>registr</a:t>
            </a:r>
            <a:r>
              <a:rPr lang="sr-Latn-RS" dirty="0"/>
              <a:t>i</a:t>
            </a:r>
            <a:endParaRPr lang="en-US" dirty="0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Programski brojač </a:t>
            </a:r>
            <a:r>
              <a:rPr lang="sr-Latn-RS" sz="2800" dirty="0" smtClean="0"/>
              <a:t>(</a:t>
            </a:r>
            <a:r>
              <a:rPr lang="en-US" sz="2800" i="1" dirty="0" smtClean="0"/>
              <a:t>Program counter (PC)</a:t>
            </a:r>
            <a:r>
              <a:rPr lang="sr-Latn-RS" sz="2800" i="1" dirty="0" smtClean="0"/>
              <a:t>)</a:t>
            </a:r>
            <a:endParaRPr lang="en-US" sz="2800" i="1" dirty="0" smtClean="0"/>
          </a:p>
          <a:p>
            <a:pPr lvl="1"/>
            <a:r>
              <a:rPr lang="sr-Latn-RS" dirty="0" smtClean="0"/>
              <a:t>Sadrži adresu sledeće </a:t>
            </a:r>
            <a:r>
              <a:rPr lang="en-US" dirty="0" err="1" smtClean="0"/>
              <a:t>instru</a:t>
            </a:r>
            <a:r>
              <a:rPr lang="sr-Latn-RS" dirty="0" smtClean="0"/>
              <a:t>kc</a:t>
            </a:r>
            <a:r>
              <a:rPr lang="en-US" dirty="0" smtClean="0"/>
              <a:t>i</a:t>
            </a:r>
            <a:r>
              <a:rPr lang="sr-Latn-RS" dirty="0" smtClean="0"/>
              <a:t>je</a:t>
            </a:r>
            <a:r>
              <a:rPr lang="en-US" dirty="0" smtClean="0"/>
              <a:t> </a:t>
            </a:r>
            <a:r>
              <a:rPr lang="sr-Latn-RS" dirty="0" smtClean="0"/>
              <a:t>za obradu</a:t>
            </a:r>
            <a:endParaRPr lang="en-US" dirty="0" smtClean="0"/>
          </a:p>
          <a:p>
            <a:r>
              <a:rPr lang="en-US" dirty="0" err="1" smtClean="0"/>
              <a:t>Instru</a:t>
            </a:r>
            <a:r>
              <a:rPr lang="sr-Latn-RS" dirty="0" smtClean="0"/>
              <a:t>kc</a:t>
            </a:r>
            <a:r>
              <a:rPr lang="en-US" dirty="0" smtClean="0"/>
              <a:t>i</a:t>
            </a:r>
            <a:r>
              <a:rPr lang="sr-Latn-RS" dirty="0" smtClean="0"/>
              <a:t>jski</a:t>
            </a:r>
            <a:r>
              <a:rPr lang="en-US" dirty="0" smtClean="0"/>
              <a:t> </a:t>
            </a:r>
            <a:r>
              <a:rPr lang="en-US" dirty="0" err="1" smtClean="0"/>
              <a:t>regist</a:t>
            </a:r>
            <a:r>
              <a:rPr lang="sr-Latn-RS" dirty="0" smtClean="0"/>
              <a:t>a</a:t>
            </a:r>
            <a:r>
              <a:rPr lang="en-US" dirty="0" smtClean="0"/>
              <a:t>r (</a:t>
            </a:r>
            <a:r>
              <a:rPr lang="en-US" dirty="0" err="1" smtClean="0"/>
              <a:t>IR</a:t>
            </a:r>
            <a:r>
              <a:rPr lang="en-US" dirty="0" smtClean="0"/>
              <a:t>)</a:t>
            </a:r>
          </a:p>
          <a:p>
            <a:pPr lvl="1"/>
            <a:r>
              <a:rPr lang="sr-Latn-RS" dirty="0" smtClean="0"/>
              <a:t>Sadrži kod instrukcije koja se izvršava</a:t>
            </a:r>
            <a:endParaRPr lang="en-US" dirty="0" smtClean="0"/>
          </a:p>
          <a:p>
            <a:r>
              <a:rPr lang="sr-Latn-RS" dirty="0" smtClean="0"/>
              <a:t>S</a:t>
            </a:r>
            <a:r>
              <a:rPr lang="en-US" dirty="0" err="1" smtClean="0"/>
              <a:t>tatus</a:t>
            </a:r>
            <a:r>
              <a:rPr lang="sr-Latn-RS" dirty="0" smtClean="0"/>
              <a:t>ni registar</a:t>
            </a:r>
            <a:r>
              <a:rPr lang="en-US" dirty="0" smtClean="0"/>
              <a:t> (</a:t>
            </a:r>
            <a:r>
              <a:rPr lang="en-US" dirty="0" err="1" smtClean="0"/>
              <a:t>PSW</a:t>
            </a:r>
            <a:r>
              <a:rPr lang="en-US" dirty="0" smtClean="0"/>
              <a:t>)</a:t>
            </a:r>
            <a:r>
              <a:rPr lang="sr-Latn-RS" dirty="0" smtClean="0"/>
              <a:t> </a:t>
            </a:r>
            <a:r>
              <a:rPr lang="sr-Latn-RS" sz="2400" i="1" dirty="0" smtClean="0"/>
              <a:t>(</a:t>
            </a:r>
            <a:r>
              <a:rPr lang="en-US" sz="2400" i="1" dirty="0" smtClean="0"/>
              <a:t>Program </a:t>
            </a:r>
            <a:r>
              <a:rPr lang="en-US" sz="2400" i="1" dirty="0"/>
              <a:t>status </a:t>
            </a:r>
            <a:r>
              <a:rPr lang="en-US" sz="2400" i="1" dirty="0" smtClean="0"/>
              <a:t>word</a:t>
            </a:r>
            <a:r>
              <a:rPr lang="sr-Latn-RS" sz="2400" i="1" dirty="0" smtClean="0"/>
              <a:t>)</a:t>
            </a:r>
            <a:endParaRPr lang="en-US" sz="2400" i="1" dirty="0" smtClean="0"/>
          </a:p>
          <a:p>
            <a:pPr lvl="1"/>
            <a:r>
              <a:rPr lang="sr-Latn-RS" dirty="0" smtClean="0"/>
              <a:t>Sadrži</a:t>
            </a:r>
            <a:r>
              <a:rPr lang="en-US" dirty="0" smtClean="0"/>
              <a:t> status</a:t>
            </a:r>
            <a:r>
              <a:rPr lang="sr-Latn-RS" dirty="0" smtClean="0"/>
              <a:t>ne</a:t>
            </a:r>
            <a:r>
              <a:rPr lang="en-US" dirty="0" smtClean="0"/>
              <a:t> </a:t>
            </a:r>
            <a:r>
              <a:rPr lang="en-US" dirty="0" err="1" smtClean="0"/>
              <a:t>informa</a:t>
            </a:r>
            <a:r>
              <a:rPr lang="sr-Latn-RS" dirty="0" smtClean="0"/>
              <a:t>cije</a:t>
            </a:r>
            <a:endParaRPr lang="en-US" dirty="0" smtClean="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and Status Registers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Program counter (PC)</a:t>
            </a:r>
          </a:p>
          <a:p>
            <a:pPr lvl="1"/>
            <a:r>
              <a:rPr lang="en-US" dirty="0" smtClean="0"/>
              <a:t>Contains the address of an instruction to be fetched</a:t>
            </a:r>
          </a:p>
          <a:p>
            <a:r>
              <a:rPr lang="en-US" dirty="0" smtClean="0"/>
              <a:t>Instruction register (</a:t>
            </a:r>
            <a:r>
              <a:rPr lang="en-US" dirty="0" err="1" smtClean="0"/>
              <a:t>IR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Contains the instruction most recently fetched</a:t>
            </a:r>
          </a:p>
          <a:p>
            <a:r>
              <a:rPr lang="en-US" dirty="0" smtClean="0"/>
              <a:t>Program status word (</a:t>
            </a:r>
            <a:r>
              <a:rPr lang="en-US" dirty="0" err="1" smtClean="0"/>
              <a:t>PSW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Contains status information</a:t>
            </a:r>
            <a:endParaRPr lang="sr-Latn-RS" dirty="0" smtClean="0"/>
          </a:p>
          <a:p>
            <a:pPr lvl="2"/>
            <a:r>
              <a:rPr lang="sr-Latn-RS" dirty="0" smtClean="0"/>
              <a:t>Sadrži uslovne kodove</a:t>
            </a:r>
          </a:p>
          <a:p>
            <a:pPr lvl="3"/>
            <a:r>
              <a:rPr lang="sr-Latn-RS" dirty="0" smtClean="0"/>
              <a:t>Bit zabrane prekida</a:t>
            </a:r>
          </a:p>
          <a:p>
            <a:pPr lvl="3"/>
            <a:r>
              <a:rPr lang="sr-Latn-RS" dirty="0" smtClean="0"/>
              <a:t>Bit režima supervizor/korisnik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2033028862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Upravljački i </a:t>
            </a:r>
            <a:r>
              <a:rPr lang="en-US" dirty="0"/>
              <a:t>status</a:t>
            </a:r>
            <a:r>
              <a:rPr lang="sr-Latn-RS" dirty="0"/>
              <a:t>ni</a:t>
            </a:r>
            <a:r>
              <a:rPr lang="en-US" dirty="0"/>
              <a:t> </a:t>
            </a:r>
            <a:r>
              <a:rPr lang="en-US" dirty="0" err="1"/>
              <a:t>registr</a:t>
            </a:r>
            <a:r>
              <a:rPr lang="sr-Latn-RS" dirty="0"/>
              <a:t>i</a:t>
            </a:r>
            <a:endParaRPr lang="en-US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Uslovni</a:t>
            </a:r>
            <a:r>
              <a:rPr lang="en-US" dirty="0" smtClean="0"/>
              <a:t> </a:t>
            </a:r>
            <a:r>
              <a:rPr lang="sr-Latn-RS" dirty="0" smtClean="0"/>
              <a:t>kodovi</a:t>
            </a:r>
            <a:r>
              <a:rPr lang="en-US" dirty="0" smtClean="0"/>
              <a:t> </a:t>
            </a:r>
            <a:r>
              <a:rPr lang="sr-Latn-RS" dirty="0" smtClean="0"/>
              <a:t>ili</a:t>
            </a:r>
            <a:r>
              <a:rPr lang="en-US" dirty="0" smtClean="0"/>
              <a:t> </a:t>
            </a:r>
            <a:r>
              <a:rPr lang="sr-Latn-RS" dirty="0" smtClean="0"/>
              <a:t>markeri </a:t>
            </a:r>
            <a:r>
              <a:rPr lang="sr-Latn-RS" i="1" dirty="0" smtClean="0"/>
              <a:t>(</a:t>
            </a:r>
            <a:r>
              <a:rPr lang="en-US" i="1" dirty="0" smtClean="0"/>
              <a:t>flags</a:t>
            </a:r>
            <a:r>
              <a:rPr lang="sr-Latn-RS" i="1" dirty="0" smtClean="0"/>
              <a:t>)</a:t>
            </a:r>
            <a:endParaRPr lang="en-US" i="1" dirty="0" smtClean="0"/>
          </a:p>
          <a:p>
            <a:pPr lvl="1"/>
            <a:r>
              <a:rPr lang="en-US" dirty="0" smtClean="0"/>
              <a:t>Bit</a:t>
            </a:r>
            <a:r>
              <a:rPr lang="sr-Latn-RS" dirty="0" smtClean="0"/>
              <a:t>ovi koje obično postavlja hardver</a:t>
            </a:r>
            <a:r>
              <a:rPr lang="en-US" dirty="0" smtClean="0"/>
              <a:t> </a:t>
            </a:r>
            <a:r>
              <a:rPr lang="en-US" dirty="0" err="1" smtClean="0"/>
              <a:t>procesor</a:t>
            </a:r>
            <a:r>
              <a:rPr lang="sr-Latn-RS" dirty="0" smtClean="0"/>
              <a:t>a</a:t>
            </a:r>
            <a:r>
              <a:rPr lang="en-US" dirty="0" smtClean="0"/>
              <a:t> </a:t>
            </a:r>
            <a:r>
              <a:rPr lang="sr-Latn-RS" dirty="0" smtClean="0"/>
              <a:t>kao</a:t>
            </a:r>
            <a:r>
              <a:rPr lang="en-US" dirty="0" smtClean="0"/>
              <a:t> re</a:t>
            </a:r>
            <a:r>
              <a:rPr lang="sr-Latn-RS" dirty="0" smtClean="0"/>
              <a:t>z</a:t>
            </a:r>
            <a:r>
              <a:rPr lang="en-US" dirty="0" err="1" smtClean="0"/>
              <a:t>ult</a:t>
            </a:r>
            <a:r>
              <a:rPr lang="sr-Latn-RS" dirty="0" smtClean="0"/>
              <a:t>at</a:t>
            </a:r>
            <a:r>
              <a:rPr lang="en-US" dirty="0" smtClean="0"/>
              <a:t> opera</a:t>
            </a:r>
            <a:r>
              <a:rPr lang="sr-Latn-RS" dirty="0" smtClean="0"/>
              <a:t>c</a:t>
            </a:r>
            <a:r>
              <a:rPr lang="en-US" dirty="0" smtClean="0"/>
              <a:t>i</a:t>
            </a:r>
            <a:r>
              <a:rPr lang="sr-Latn-RS" dirty="0" smtClean="0"/>
              <a:t>ja</a:t>
            </a:r>
            <a:endParaRPr lang="en-US" dirty="0" smtClean="0"/>
          </a:p>
          <a:p>
            <a:pPr lvl="1"/>
            <a:r>
              <a:rPr lang="sr-Latn-RS" dirty="0" smtClean="0"/>
              <a:t>Primer </a:t>
            </a:r>
            <a:r>
              <a:rPr lang="sr-Latn-RS" sz="2400" dirty="0" smtClean="0"/>
              <a:t>(aritmetička operacija može da proizvede)</a:t>
            </a:r>
            <a:endParaRPr lang="en-US" sz="2400" dirty="0" smtClean="0"/>
          </a:p>
          <a:p>
            <a:pPr lvl="2"/>
            <a:r>
              <a:rPr lang="en-US" dirty="0" smtClean="0"/>
              <a:t>Po</a:t>
            </a:r>
            <a:r>
              <a:rPr lang="sr-Latn-RS" dirty="0" smtClean="0"/>
              <a:t>z</a:t>
            </a:r>
            <a:r>
              <a:rPr lang="en-US" dirty="0" err="1" smtClean="0"/>
              <a:t>itiv</a:t>
            </a:r>
            <a:r>
              <a:rPr lang="sr-Latn-RS" dirty="0" smtClean="0"/>
              <a:t>an</a:t>
            </a:r>
            <a:r>
              <a:rPr lang="en-US" dirty="0" smtClean="0"/>
              <a:t>, </a:t>
            </a:r>
            <a:r>
              <a:rPr lang="en-US" dirty="0" err="1" smtClean="0"/>
              <a:t>negativ</a:t>
            </a:r>
            <a:r>
              <a:rPr lang="sr-Latn-RS" dirty="0" smtClean="0"/>
              <a:t>an</a:t>
            </a:r>
            <a:r>
              <a:rPr lang="en-US" dirty="0" smtClean="0"/>
              <a:t>, </a:t>
            </a:r>
            <a:r>
              <a:rPr lang="sr-Latn-RS" dirty="0" smtClean="0"/>
              <a:t>nulu ili prekoračenje </a:t>
            </a:r>
            <a:r>
              <a:rPr lang="sr-Latn-RS" i="1" dirty="0" smtClean="0"/>
              <a:t>(</a:t>
            </a:r>
            <a:r>
              <a:rPr lang="en-US" i="1" dirty="0" smtClean="0"/>
              <a:t>overflow</a:t>
            </a:r>
            <a:r>
              <a:rPr lang="sr-Latn-RS" i="1" dirty="0" smtClean="0"/>
              <a:t>)</a:t>
            </a:r>
            <a:r>
              <a:rPr lang="en-US" dirty="0" smtClean="0"/>
              <a:t> re</a:t>
            </a:r>
            <a:r>
              <a:rPr lang="sr-Latn-RS" dirty="0" smtClean="0"/>
              <a:t>z</a:t>
            </a:r>
            <a:r>
              <a:rPr lang="en-US" dirty="0" err="1" smtClean="0"/>
              <a:t>ult</a:t>
            </a:r>
            <a:r>
              <a:rPr lang="sr-Latn-RS" dirty="0" smtClean="0"/>
              <a:t>at</a:t>
            </a:r>
            <a:endParaRPr lang="en-US" dirty="0" smtClean="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and Status Registers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Condition codes or flags</a:t>
            </a:r>
          </a:p>
          <a:p>
            <a:pPr lvl="1"/>
            <a:r>
              <a:rPr lang="en-US" smtClean="0"/>
              <a:t>Bits set by processor hardware as a result of operations</a:t>
            </a:r>
          </a:p>
          <a:p>
            <a:pPr lvl="1"/>
            <a:r>
              <a:rPr lang="en-US" smtClean="0"/>
              <a:t>Example</a:t>
            </a:r>
          </a:p>
          <a:p>
            <a:pPr lvl="2"/>
            <a:r>
              <a:rPr lang="en-US" smtClean="0"/>
              <a:t>Positive, negative, zero, or overflow result</a:t>
            </a:r>
          </a:p>
        </p:txBody>
      </p:sp>
    </p:spTree>
    <p:extLst>
      <p:ext uri="{BB962C8B-B14F-4D97-AF65-F5344CB8AC3E}">
        <p14:creationId xmlns:p14="http://schemas.microsoft.com/office/powerpoint/2010/main" xmlns="" val="2071891064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1.3 Izvršavanje instrukcija</a:t>
            </a:r>
            <a:endParaRPr lang="en-US" dirty="0" smtClean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Dva koraka</a:t>
            </a:r>
            <a:endParaRPr lang="en-US" dirty="0" smtClean="0"/>
          </a:p>
          <a:p>
            <a:pPr lvl="1"/>
            <a:r>
              <a:rPr lang="en-US" dirty="0" err="1" smtClean="0"/>
              <a:t>Procesor</a:t>
            </a:r>
            <a:r>
              <a:rPr lang="en-US" dirty="0" smtClean="0"/>
              <a:t> </a:t>
            </a:r>
            <a:r>
              <a:rPr lang="sr-Latn-RS" dirty="0" smtClean="0"/>
              <a:t>čita</a:t>
            </a:r>
            <a:r>
              <a:rPr lang="en-US" dirty="0" smtClean="0"/>
              <a:t> </a:t>
            </a:r>
            <a:r>
              <a:rPr lang="en-US" i="1" dirty="0" smtClean="0"/>
              <a:t>(fetches)</a:t>
            </a:r>
            <a:r>
              <a:rPr lang="en-US" dirty="0" smtClean="0"/>
              <a:t> </a:t>
            </a:r>
            <a:r>
              <a:rPr lang="en-US" dirty="0" err="1" smtClean="0"/>
              <a:t>instru</a:t>
            </a:r>
            <a:r>
              <a:rPr lang="sr-Latn-RS" dirty="0" smtClean="0"/>
              <a:t>kc</a:t>
            </a:r>
            <a:r>
              <a:rPr lang="en-US" dirty="0" smtClean="0"/>
              <a:t>i</a:t>
            </a:r>
            <a:r>
              <a:rPr lang="sr-Latn-RS" dirty="0" smtClean="0"/>
              <a:t>je iz</a:t>
            </a:r>
            <a:r>
              <a:rPr lang="en-US" dirty="0" smtClean="0"/>
              <a:t> </a:t>
            </a:r>
            <a:r>
              <a:rPr lang="en-US" dirty="0" err="1" smtClean="0"/>
              <a:t>memor</a:t>
            </a:r>
            <a:r>
              <a:rPr lang="sr-Latn-RS" dirty="0" smtClean="0"/>
              <a:t>ije</a:t>
            </a:r>
            <a:endParaRPr lang="en-US" dirty="0" smtClean="0"/>
          </a:p>
          <a:p>
            <a:pPr lvl="1"/>
            <a:r>
              <a:rPr lang="en-US" dirty="0" err="1" smtClean="0"/>
              <a:t>Procesor</a:t>
            </a:r>
            <a:r>
              <a:rPr lang="en-US" dirty="0" smtClean="0"/>
              <a:t> </a:t>
            </a:r>
            <a:r>
              <a:rPr lang="sr-Latn-RS" dirty="0" smtClean="0"/>
              <a:t>izvršava </a:t>
            </a:r>
            <a:r>
              <a:rPr lang="sr-Latn-RS" i="1" dirty="0" smtClean="0"/>
              <a:t>(</a:t>
            </a:r>
            <a:r>
              <a:rPr lang="en-US" i="1" dirty="0" smtClean="0"/>
              <a:t>executes</a:t>
            </a:r>
            <a:r>
              <a:rPr lang="sr-Latn-RS" i="1" dirty="0" smtClean="0"/>
              <a:t>)</a:t>
            </a:r>
            <a:r>
              <a:rPr lang="en-US" dirty="0" smtClean="0"/>
              <a:t> </a:t>
            </a:r>
            <a:r>
              <a:rPr lang="sr-Latn-RS" dirty="0" smtClean="0"/>
              <a:t>svaku naredbu</a:t>
            </a:r>
          </a:p>
          <a:p>
            <a:pPr lvl="1"/>
            <a:endParaRPr lang="sr-Latn-RS" dirty="0"/>
          </a:p>
          <a:p>
            <a:pPr lvl="1"/>
            <a:endParaRPr lang="sr-Latn-RS" dirty="0" smtClean="0"/>
          </a:p>
          <a:p>
            <a:pPr lvl="1"/>
            <a:endParaRPr lang="sr-Latn-RS" dirty="0"/>
          </a:p>
          <a:p>
            <a:pPr marL="457200" lvl="1" indent="0">
              <a:buNone/>
            </a:pPr>
            <a:endParaRPr lang="sr-Latn-RS" dirty="0" smtClean="0"/>
          </a:p>
          <a:p>
            <a:pPr lvl="1"/>
            <a:endParaRPr lang="sr-Latn-RS" dirty="0"/>
          </a:p>
          <a:p>
            <a:pPr lvl="1"/>
            <a:r>
              <a:rPr lang="sr-Latn-RS" sz="2000" dirty="0" smtClean="0"/>
              <a:t>Str.13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xmlns="" val="129760612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Instruction </a:t>
            </a:r>
            <a:r>
              <a:rPr lang="en-US" dirty="0"/>
              <a:t>Execution</a:t>
            </a:r>
            <a:endParaRPr lang="en-US" dirty="0" smtClean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Two steps</a:t>
            </a:r>
          </a:p>
          <a:p>
            <a:pPr lvl="1"/>
            <a:r>
              <a:rPr lang="en-US" smtClean="0"/>
              <a:t>Processor reads (fetches) instructions from memory</a:t>
            </a:r>
          </a:p>
          <a:p>
            <a:pPr lvl="1"/>
            <a:r>
              <a:rPr lang="en-US" smtClean="0"/>
              <a:t>Processor executes each instruction</a:t>
            </a: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Osnovni i</a:t>
            </a:r>
            <a:r>
              <a:rPr lang="en-US" dirty="0" err="1" smtClean="0"/>
              <a:t>nstru</a:t>
            </a:r>
            <a:r>
              <a:rPr lang="sr-Latn-RS" dirty="0" smtClean="0"/>
              <a:t>kc</a:t>
            </a:r>
            <a:r>
              <a:rPr lang="en-US" dirty="0" smtClean="0"/>
              <a:t>i</a:t>
            </a:r>
            <a:r>
              <a:rPr lang="sr-Latn-RS" dirty="0" smtClean="0"/>
              <a:t>jski</a:t>
            </a:r>
            <a:r>
              <a:rPr lang="en-US" dirty="0" smtClean="0"/>
              <a:t> </a:t>
            </a:r>
            <a:r>
              <a:rPr lang="sr-Latn-RS" dirty="0" smtClean="0"/>
              <a:t>ciklus</a:t>
            </a:r>
            <a:endParaRPr lang="en-US" dirty="0" smtClean="0"/>
          </a:p>
        </p:txBody>
      </p:sp>
      <p:pic>
        <p:nvPicPr>
          <p:cNvPr id="18435" name="Content Placeholder 3" descr="Fig01_02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568931" y="1676400"/>
            <a:ext cx="7584469" cy="3590925"/>
          </a:xfrm>
        </p:spPr>
      </p:pic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Instruction Cycle</a:t>
            </a:r>
          </a:p>
        </p:txBody>
      </p:sp>
      <p:pic>
        <p:nvPicPr>
          <p:cNvPr id="18435" name="Content Placeholder 3" descr="Fig01_02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568931" y="1676400"/>
            <a:ext cx="7584469" cy="3590925"/>
          </a:xfrm>
        </p:spPr>
      </p:pic>
    </p:spTree>
    <p:extLst>
      <p:ext uri="{BB962C8B-B14F-4D97-AF65-F5344CB8AC3E}">
        <p14:creationId xmlns:p14="http://schemas.microsoft.com/office/powerpoint/2010/main" xmlns="" val="4026010974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Pribavljanje i izvršavanje naredbi</a:t>
            </a:r>
            <a:endParaRPr lang="en-US" dirty="0" smtClean="0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err="1"/>
              <a:t>P</a:t>
            </a:r>
            <a:r>
              <a:rPr lang="en-US" dirty="0" err="1" smtClean="0"/>
              <a:t>rocesor</a:t>
            </a:r>
            <a:r>
              <a:rPr lang="en-US" dirty="0" smtClean="0"/>
              <a:t> </a:t>
            </a:r>
            <a:r>
              <a:rPr lang="sr-Latn-RS" dirty="0" smtClean="0"/>
              <a:t>pribavlja (čita, donosi) </a:t>
            </a:r>
            <a:r>
              <a:rPr lang="sr-Latn-RS" i="1" dirty="0" smtClean="0"/>
              <a:t>(</a:t>
            </a:r>
            <a:r>
              <a:rPr lang="en-US" i="1" dirty="0" smtClean="0"/>
              <a:t>fetches</a:t>
            </a:r>
            <a:r>
              <a:rPr lang="sr-Latn-RS" i="1" dirty="0" smtClean="0"/>
              <a:t>)</a:t>
            </a:r>
            <a:r>
              <a:rPr lang="en-US" i="1" dirty="0" smtClean="0"/>
              <a:t> </a:t>
            </a:r>
            <a:r>
              <a:rPr lang="sr-Latn-RS" dirty="0" smtClean="0"/>
              <a:t>naredbe iz memorije</a:t>
            </a:r>
            <a:endParaRPr lang="en-US" dirty="0" smtClean="0"/>
          </a:p>
          <a:p>
            <a:r>
              <a:rPr lang="en-US" dirty="0" smtClean="0"/>
              <a:t>Program</a:t>
            </a:r>
            <a:r>
              <a:rPr lang="sr-Latn-RS" dirty="0" smtClean="0"/>
              <a:t>ski brojač</a:t>
            </a:r>
            <a:r>
              <a:rPr lang="en-US" dirty="0" smtClean="0"/>
              <a:t> </a:t>
            </a:r>
            <a:r>
              <a:rPr lang="en-US" i="1" dirty="0" smtClean="0"/>
              <a:t>(PC</a:t>
            </a:r>
            <a:r>
              <a:rPr lang="sr-Latn-RS" i="1" dirty="0" smtClean="0"/>
              <a:t>-</a:t>
            </a:r>
            <a:r>
              <a:rPr lang="en-US" i="1" dirty="0"/>
              <a:t> </a:t>
            </a:r>
            <a:r>
              <a:rPr lang="sr-Latn-RS" i="1" dirty="0" smtClean="0"/>
              <a:t>program </a:t>
            </a:r>
            <a:r>
              <a:rPr lang="en-US" i="1" dirty="0" smtClean="0"/>
              <a:t>counter </a:t>
            </a:r>
            <a:r>
              <a:rPr lang="en-US" i="1" dirty="0"/>
              <a:t>)</a:t>
            </a:r>
            <a:r>
              <a:rPr lang="en-US" dirty="0"/>
              <a:t> </a:t>
            </a:r>
            <a:r>
              <a:rPr lang="sr-Latn-RS" dirty="0" smtClean="0"/>
              <a:t>sadrži </a:t>
            </a:r>
            <a:r>
              <a:rPr lang="en-US" dirty="0" err="1" smtClean="0"/>
              <a:t>adres</a:t>
            </a:r>
            <a:r>
              <a:rPr lang="sr-Latn-RS" dirty="0" smtClean="0"/>
              <a:t>u sledeće naredbe za donošenje</a:t>
            </a:r>
            <a:endParaRPr lang="en-US" dirty="0" smtClean="0"/>
          </a:p>
          <a:p>
            <a:r>
              <a:rPr lang="en-US" dirty="0" smtClean="0"/>
              <a:t>PC </a:t>
            </a:r>
            <a:r>
              <a:rPr lang="sr-Latn-RS" dirty="0" smtClean="0"/>
              <a:t>se uvećava (inkrementira) posle svakog donošenja naredbe</a:t>
            </a:r>
          </a:p>
          <a:p>
            <a:endParaRPr lang="sr-Latn-RS" dirty="0"/>
          </a:p>
          <a:p>
            <a:r>
              <a:rPr lang="sr-Latn-RS" sz="2000" dirty="0" smtClean="0"/>
              <a:t>Str.13</a:t>
            </a:r>
            <a:endParaRPr lang="sr-Latn-RS" sz="2000" dirty="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Instruction Fetch and Execute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The processor fetches the instruction from memory</a:t>
            </a:r>
          </a:p>
          <a:p>
            <a:r>
              <a:rPr lang="en-US" smtClean="0"/>
              <a:t>Program counter (PC) holds address of the instruction to be fetched next</a:t>
            </a:r>
          </a:p>
          <a:p>
            <a:r>
              <a:rPr lang="en-US" smtClean="0"/>
              <a:t>PC is incremented after each fetch</a:t>
            </a:r>
          </a:p>
        </p:txBody>
      </p:sp>
    </p:spTree>
    <p:extLst>
      <p:ext uri="{BB962C8B-B14F-4D97-AF65-F5344CB8AC3E}">
        <p14:creationId xmlns:p14="http://schemas.microsoft.com/office/powerpoint/2010/main" xmlns="" val="3970543704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Registar naredbi - RN</a:t>
            </a:r>
            <a:br>
              <a:rPr lang="sr-Latn-RS" dirty="0" smtClean="0"/>
            </a:br>
            <a:r>
              <a:rPr lang="en-US" sz="3600" dirty="0" smtClean="0"/>
              <a:t>Instruction Register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Donešene naredbe se učitavaju u registar naredbi </a:t>
            </a:r>
            <a:r>
              <a:rPr lang="sr-Latn-RS" i="1" dirty="0" smtClean="0"/>
              <a:t>(</a:t>
            </a:r>
            <a:r>
              <a:rPr lang="en-US" i="1" dirty="0" smtClean="0"/>
              <a:t>instruction register</a:t>
            </a:r>
            <a:r>
              <a:rPr lang="sr-Latn-RS" i="1" dirty="0" smtClean="0"/>
              <a:t>)</a:t>
            </a:r>
            <a:endParaRPr lang="en-US" i="1" dirty="0" smtClean="0"/>
          </a:p>
          <a:p>
            <a:r>
              <a:rPr lang="sr-Latn-RS" dirty="0" smtClean="0"/>
              <a:t>K</a:t>
            </a:r>
            <a:r>
              <a:rPr lang="en-US" dirty="0" err="1" smtClean="0"/>
              <a:t>ategori</a:t>
            </a:r>
            <a:r>
              <a:rPr lang="sr-Latn-RS" dirty="0" smtClean="0"/>
              <a:t>j</a:t>
            </a:r>
            <a:r>
              <a:rPr lang="en-US" dirty="0" smtClean="0"/>
              <a:t>e</a:t>
            </a:r>
            <a:r>
              <a:rPr lang="sr-Latn-RS" dirty="0" smtClean="0"/>
              <a:t> radnji</a:t>
            </a:r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dirty="0" err="1" smtClean="0"/>
              <a:t>Procesor-memor</a:t>
            </a:r>
            <a:r>
              <a:rPr lang="sr-Latn-RS" dirty="0" smtClean="0"/>
              <a:t>ija</a:t>
            </a:r>
            <a:r>
              <a:rPr lang="en-US" dirty="0" smtClean="0"/>
              <a:t>,</a:t>
            </a:r>
            <a:endParaRPr lang="sr-Latn-RS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dirty="0" err="1" smtClean="0"/>
              <a:t>procesor</a:t>
            </a:r>
            <a:r>
              <a:rPr lang="en-US" dirty="0" smtClean="0"/>
              <a:t>-</a:t>
            </a:r>
            <a:r>
              <a:rPr lang="sr-Latn-RS" dirty="0" smtClean="0"/>
              <a:t>U</a:t>
            </a:r>
            <a:r>
              <a:rPr lang="en-US" dirty="0" smtClean="0"/>
              <a:t>/</a:t>
            </a:r>
            <a:r>
              <a:rPr lang="sr-Latn-RS" dirty="0" smtClean="0"/>
              <a:t>I</a:t>
            </a:r>
            <a:r>
              <a:rPr lang="en-US" dirty="0" smtClean="0"/>
              <a:t>, </a:t>
            </a:r>
            <a:endParaRPr lang="sr-Latn-RS" dirty="0" smtClean="0"/>
          </a:p>
          <a:p>
            <a:pPr marL="971550" lvl="1" indent="-514350">
              <a:buFont typeface="+mj-lt"/>
              <a:buAutoNum type="arabicPeriod"/>
            </a:pPr>
            <a:r>
              <a:rPr lang="sr-Latn-RS" dirty="0" smtClean="0"/>
              <a:t>Obrada podataka</a:t>
            </a:r>
            <a:r>
              <a:rPr lang="en-US" dirty="0" smtClean="0"/>
              <a:t>,</a:t>
            </a:r>
            <a:endParaRPr lang="sr-Latn-RS" dirty="0" smtClean="0"/>
          </a:p>
          <a:p>
            <a:pPr marL="971550" lvl="1" indent="-514350">
              <a:buFont typeface="+mj-lt"/>
              <a:buAutoNum type="arabicPeriod"/>
            </a:pPr>
            <a:r>
              <a:rPr lang="sr-Latn-RS" dirty="0" smtClean="0"/>
              <a:t>Upravljanje</a:t>
            </a: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Instruction Register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Fetched instruction loaded into instruction register</a:t>
            </a:r>
          </a:p>
          <a:p>
            <a:r>
              <a:rPr lang="en-US" smtClean="0"/>
              <a:t>Categories</a:t>
            </a:r>
          </a:p>
          <a:p>
            <a:pPr lvl="1"/>
            <a:r>
              <a:rPr lang="en-US" smtClean="0"/>
              <a:t>Processor-memory, processor-I/O, data processing, control</a:t>
            </a:r>
          </a:p>
        </p:txBody>
      </p:sp>
    </p:spTree>
    <p:extLst>
      <p:ext uri="{BB962C8B-B14F-4D97-AF65-F5344CB8AC3E}">
        <p14:creationId xmlns:p14="http://schemas.microsoft.com/office/powerpoint/2010/main" xmlns="" val="3695670707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K</a:t>
            </a:r>
            <a:r>
              <a:rPr lang="en-US" dirty="0" err="1" smtClean="0"/>
              <a:t>ara</a:t>
            </a:r>
            <a:r>
              <a:rPr lang="sr-Latn-RS" dirty="0" smtClean="0"/>
              <a:t>k</a:t>
            </a:r>
            <a:r>
              <a:rPr lang="en-US" dirty="0" err="1" smtClean="0"/>
              <a:t>teristi</a:t>
            </a:r>
            <a:r>
              <a:rPr lang="sr-Latn-RS" dirty="0" smtClean="0"/>
              <a:t>ke hi</a:t>
            </a:r>
            <a:r>
              <a:rPr lang="en-US" dirty="0" err="1" smtClean="0"/>
              <a:t>poteti</a:t>
            </a:r>
            <a:r>
              <a:rPr lang="sr-Latn-RS" dirty="0" smtClean="0"/>
              <a:t>čkog r</a:t>
            </a:r>
            <a:r>
              <a:rPr lang="en-US" dirty="0" smtClean="0"/>
              <a:t>a</a:t>
            </a:r>
            <a:r>
              <a:rPr lang="sr-Latn-RS" dirty="0" smtClean="0"/>
              <a:t>čunara</a:t>
            </a:r>
            <a:endParaRPr lang="en-US" dirty="0" smtClean="0"/>
          </a:p>
        </p:txBody>
      </p:sp>
      <p:pic>
        <p:nvPicPr>
          <p:cNvPr id="21507" name="Content Placeholder 3" descr="Fig01_03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905000" y="1447800"/>
            <a:ext cx="5356049" cy="5236242"/>
          </a:xfrm>
        </p:spPr>
      </p:pic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Characteristics of a Hypothetical Machine</a:t>
            </a:r>
          </a:p>
        </p:txBody>
      </p:sp>
      <p:pic>
        <p:nvPicPr>
          <p:cNvPr id="21507" name="Content Placeholder 3" descr="Fig01_03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905000" y="1447800"/>
            <a:ext cx="5356049" cy="5236242"/>
          </a:xfrm>
        </p:spPr>
      </p:pic>
    </p:spTree>
    <p:extLst>
      <p:ext uri="{BB962C8B-B14F-4D97-AF65-F5344CB8AC3E}">
        <p14:creationId xmlns:p14="http://schemas.microsoft.com/office/powerpoint/2010/main" xmlns="" val="4227029257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Primer izvršavanja p</a:t>
            </a:r>
            <a:r>
              <a:rPr lang="en-US" dirty="0" err="1" smtClean="0"/>
              <a:t>rogram</a:t>
            </a:r>
            <a:r>
              <a:rPr lang="sr-Latn-RS" dirty="0" smtClean="0"/>
              <a:t>a</a:t>
            </a:r>
            <a:endParaRPr lang="en-US" dirty="0" smtClean="0"/>
          </a:p>
        </p:txBody>
      </p:sp>
      <p:pic>
        <p:nvPicPr>
          <p:cNvPr id="22531" name="Content Placeholder 3" descr="Fig01_04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514600" y="1143000"/>
            <a:ext cx="4319705" cy="5601682"/>
          </a:xfrm>
        </p:spPr>
      </p:pic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Program Execution</a:t>
            </a:r>
          </a:p>
        </p:txBody>
      </p:sp>
      <p:pic>
        <p:nvPicPr>
          <p:cNvPr id="22531" name="Content Placeholder 3" descr="Fig01_04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514600" y="1143000"/>
            <a:ext cx="4319705" cy="5601682"/>
          </a:xfrm>
        </p:spPr>
      </p:pic>
    </p:spTree>
    <p:extLst>
      <p:ext uri="{BB962C8B-B14F-4D97-AF65-F5344CB8AC3E}">
        <p14:creationId xmlns:p14="http://schemas.microsoft.com/office/powerpoint/2010/main" xmlns="" val="2096023309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1.4 Prekidi </a:t>
            </a:r>
            <a:r>
              <a:rPr lang="sr-Latn-RS" i="1" dirty="0" smtClean="0"/>
              <a:t>(</a:t>
            </a:r>
            <a:r>
              <a:rPr lang="en-US" i="1" dirty="0" smtClean="0"/>
              <a:t>Interrupts</a:t>
            </a:r>
            <a:r>
              <a:rPr lang="sr-Latn-RS" i="1" dirty="0" smtClean="0"/>
              <a:t>)</a:t>
            </a:r>
            <a:endParaRPr lang="en-US" i="1" dirty="0" smtClean="0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Prekida </a:t>
            </a:r>
            <a:r>
              <a:rPr lang="en-US" dirty="0" smtClean="0"/>
              <a:t>normal</a:t>
            </a:r>
            <a:r>
              <a:rPr lang="sr-Latn-RS" dirty="0" smtClean="0"/>
              <a:t>an</a:t>
            </a:r>
            <a:r>
              <a:rPr lang="en-US" dirty="0" smtClean="0"/>
              <a:t> </a:t>
            </a:r>
            <a:r>
              <a:rPr lang="sr-Latn-RS" dirty="0" smtClean="0"/>
              <a:t>redosled rada </a:t>
            </a:r>
            <a:r>
              <a:rPr lang="en-US" dirty="0" err="1" smtClean="0"/>
              <a:t>procesor</a:t>
            </a:r>
            <a:r>
              <a:rPr lang="sr-Latn-RS" dirty="0" smtClean="0"/>
              <a:t>a</a:t>
            </a:r>
            <a:endParaRPr lang="en-US" dirty="0" smtClean="0"/>
          </a:p>
          <a:p>
            <a:r>
              <a:rPr lang="sr-Latn-RS" dirty="0" smtClean="0"/>
              <a:t>Većina </a:t>
            </a:r>
            <a:r>
              <a:rPr lang="sr-Latn-RS" dirty="0"/>
              <a:t>U</a:t>
            </a:r>
            <a:r>
              <a:rPr lang="en-US" dirty="0" smtClean="0"/>
              <a:t>/</a:t>
            </a:r>
            <a:r>
              <a:rPr lang="sr-Latn-RS" dirty="0" smtClean="0"/>
              <a:t>I</a:t>
            </a:r>
            <a:r>
              <a:rPr lang="en-US" dirty="0" smtClean="0"/>
              <a:t> </a:t>
            </a:r>
            <a:r>
              <a:rPr lang="sr-Latn-RS" dirty="0" smtClean="0"/>
              <a:t>uređaja je mnogo sporija od procesora</a:t>
            </a:r>
            <a:endParaRPr lang="en-US" dirty="0" smtClean="0"/>
          </a:p>
          <a:p>
            <a:pPr lvl="1"/>
            <a:r>
              <a:rPr lang="en-US" dirty="0" err="1" smtClean="0"/>
              <a:t>Procesor</a:t>
            </a:r>
            <a:r>
              <a:rPr lang="en-US" dirty="0" smtClean="0"/>
              <a:t> m</a:t>
            </a:r>
            <a:r>
              <a:rPr lang="sr-Latn-RS" dirty="0" smtClean="0"/>
              <a:t>ora da pravi pauzu dok čeka na U/I uređaj</a:t>
            </a:r>
          </a:p>
          <a:p>
            <a:pPr lvl="2"/>
            <a:r>
              <a:rPr lang="sr-Latn-RS" dirty="0" smtClean="0"/>
              <a:t>To je veoma neproduktivna upotreba procesora</a:t>
            </a:r>
          </a:p>
          <a:p>
            <a:pPr lvl="2"/>
            <a:endParaRPr lang="sr-Latn-RS" dirty="0"/>
          </a:p>
          <a:p>
            <a:pPr lvl="2"/>
            <a:endParaRPr lang="sr-Latn-RS" dirty="0" smtClean="0"/>
          </a:p>
          <a:p>
            <a:pPr lvl="2"/>
            <a:r>
              <a:rPr lang="sr-Latn-RS" sz="2000" dirty="0" smtClean="0"/>
              <a:t>Str.16</a:t>
            </a:r>
            <a:endParaRPr lang="sr-Latn-RS" sz="2000" dirty="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Interrupts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Interrupt the normal sequencing of the processor</a:t>
            </a:r>
          </a:p>
          <a:p>
            <a:r>
              <a:rPr lang="en-US" smtClean="0"/>
              <a:t>Most I/O devices are slower than the processor</a:t>
            </a:r>
          </a:p>
          <a:p>
            <a:pPr lvl="1"/>
            <a:r>
              <a:rPr lang="en-US" smtClean="0"/>
              <a:t>Processor must pause to wait for device</a:t>
            </a:r>
          </a:p>
        </p:txBody>
      </p:sp>
    </p:spTree>
    <p:extLst>
      <p:ext uri="{BB962C8B-B14F-4D97-AF65-F5344CB8AC3E}">
        <p14:creationId xmlns:p14="http://schemas.microsoft.com/office/powerpoint/2010/main" xmlns="" val="2778872166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K</a:t>
            </a:r>
            <a:r>
              <a:rPr lang="en-US" dirty="0" smtClean="0"/>
              <a:t>lase </a:t>
            </a:r>
            <a:r>
              <a:rPr lang="sr-Latn-RS" dirty="0" smtClean="0"/>
              <a:t>prekida</a:t>
            </a:r>
            <a:endParaRPr lang="en-US" dirty="0" smtClean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355826045"/>
              </p:ext>
            </p:extLst>
          </p:nvPr>
        </p:nvGraphicFramePr>
        <p:xfrm>
          <a:off x="609600" y="1447800"/>
          <a:ext cx="8001000" cy="4519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213"/>
                <a:gridCol w="6300787"/>
              </a:tblGrid>
              <a:tr h="1981200">
                <a:tc>
                  <a:txBody>
                    <a:bodyPr/>
                    <a:lstStyle/>
                    <a:p>
                      <a:r>
                        <a:rPr lang="sr-Latn-RS" sz="2400" b="1" dirty="0" smtClean="0">
                          <a:solidFill>
                            <a:schemeClr val="tx1"/>
                          </a:solidFill>
                        </a:rPr>
                        <a:t>Program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r-Latn-RS" sz="2000" b="0" dirty="0" smtClean="0">
                          <a:solidFill>
                            <a:schemeClr val="tx1"/>
                          </a:solidFill>
                        </a:rPr>
                        <a:t>Generiše se zbog nekih uslova koji se pojavljuju kao rezultat izvršavanja naredbi, kao što je aritmetičko</a:t>
                      </a:r>
                      <a:r>
                        <a:rPr lang="sr-Latn-RS" sz="2000" b="0" baseline="0" dirty="0" smtClean="0">
                          <a:solidFill>
                            <a:schemeClr val="tx1"/>
                          </a:solidFill>
                        </a:rPr>
                        <a:t> prekoraćenje, deljenje nulom, pokušaj izvršavanja nepostojeće mašinske naredbe i adresiranje memorijskog prostora koji je dodeljen drugom korisniku. 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1008892">
                <a:tc>
                  <a:txBody>
                    <a:bodyPr/>
                    <a:lstStyle/>
                    <a:p>
                      <a:r>
                        <a:rPr lang="sr-Latn-RS" sz="2400" b="1" dirty="0" smtClean="0">
                          <a:solidFill>
                            <a:schemeClr val="tx1"/>
                          </a:solidFill>
                        </a:rPr>
                        <a:t>Tajmer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r-Latn-RS" sz="2000" b="0" dirty="0" smtClean="0">
                          <a:solidFill>
                            <a:schemeClr val="tx1"/>
                          </a:solidFill>
                        </a:rPr>
                        <a:t>Generiše ga tajmer unutar rocesora. Ovim se operativnom sistemu dozvoljava redovno izvršavanje određenih funkcija.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706224">
                <a:tc>
                  <a:txBody>
                    <a:bodyPr/>
                    <a:lstStyle/>
                    <a:p>
                      <a:r>
                        <a:rPr lang="sr-Latn-RS" sz="2400" b="1" dirty="0" smtClean="0">
                          <a:solidFill>
                            <a:schemeClr val="tx1"/>
                          </a:solidFill>
                        </a:rPr>
                        <a:t>U/I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r-Latn-RS" sz="2000" b="0" dirty="0" smtClean="0">
                          <a:solidFill>
                            <a:schemeClr val="tx1"/>
                          </a:solidFill>
                        </a:rPr>
                        <a:t>Generiše ga U/I kontroler kako bi signalizirao završetak operacije ili razne greške.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259080">
                <a:tc>
                  <a:txBody>
                    <a:bodyPr/>
                    <a:lstStyle/>
                    <a:p>
                      <a:r>
                        <a:rPr lang="sr-Latn-RS" sz="2400" b="1" dirty="0" smtClean="0">
                          <a:solidFill>
                            <a:schemeClr val="tx1"/>
                          </a:solidFill>
                        </a:rPr>
                        <a:t>Otlaz hardvera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r-Latn-RS" sz="2000" b="0" dirty="0" smtClean="0">
                          <a:solidFill>
                            <a:schemeClr val="tx1"/>
                          </a:solidFill>
                        </a:rPr>
                        <a:t>Generiše ga otkaz, kao što je nestanak struje ili greška pariteta memorije.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Classes of Interrupts</a:t>
            </a:r>
          </a:p>
        </p:txBody>
      </p:sp>
      <p:pic>
        <p:nvPicPr>
          <p:cNvPr id="24579" name="Content Placeholder 3" descr="Table01_01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542834" y="1600200"/>
            <a:ext cx="8517981" cy="3838575"/>
          </a:xfrm>
        </p:spPr>
      </p:pic>
    </p:spTree>
    <p:extLst>
      <p:ext uri="{BB962C8B-B14F-4D97-AF65-F5344CB8AC3E}">
        <p14:creationId xmlns:p14="http://schemas.microsoft.com/office/powerpoint/2010/main" xmlns="" val="3961096437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Tok kontrole p</a:t>
            </a:r>
            <a:r>
              <a:rPr lang="en-US" dirty="0" err="1" smtClean="0"/>
              <a:t>rogram</a:t>
            </a:r>
            <a:r>
              <a:rPr lang="sr-Latn-RS" dirty="0" smtClean="0"/>
              <a:t>a</a:t>
            </a:r>
            <a:endParaRPr lang="en-US" dirty="0" smtClean="0"/>
          </a:p>
        </p:txBody>
      </p:sp>
      <p:pic>
        <p:nvPicPr>
          <p:cNvPr id="25603" name="Content Placeholder 3" descr="Fig1_5a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3200400" y="1156063"/>
            <a:ext cx="2971800" cy="5434148"/>
          </a:xfrm>
        </p:spPr>
      </p:pic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97562"/>
          </a:xfrm>
        </p:spPr>
        <p:txBody>
          <a:bodyPr/>
          <a:lstStyle/>
          <a:p>
            <a:pPr algn="r"/>
            <a:r>
              <a:rPr lang="sr-Latn-RS" dirty="0"/>
              <a:t>Tok kontrole p</a:t>
            </a:r>
            <a:r>
              <a:rPr lang="en-US" dirty="0" err="1"/>
              <a:t>rogram</a:t>
            </a:r>
            <a:r>
              <a:rPr lang="sr-Latn-RS" dirty="0" smtClean="0"/>
              <a:t>a</a:t>
            </a:r>
            <a:br>
              <a:rPr lang="sr-Latn-RS" dirty="0" smtClean="0"/>
            </a:br>
            <a:r>
              <a:rPr lang="sr-Latn-RS" dirty="0"/>
              <a:t/>
            </a:r>
            <a:br>
              <a:rPr lang="sr-Latn-RS" dirty="0"/>
            </a:br>
            <a:r>
              <a:rPr lang="sr-Latn-RS" dirty="0" smtClean="0"/>
              <a:t/>
            </a:r>
            <a:br>
              <a:rPr lang="sr-Latn-RS" dirty="0" smtClean="0"/>
            </a:br>
            <a:r>
              <a:rPr lang="sr-Latn-RS" dirty="0" smtClean="0"/>
              <a:t/>
            </a:r>
            <a:br>
              <a:rPr lang="sr-Latn-RS" dirty="0" smtClean="0"/>
            </a:br>
            <a:r>
              <a:rPr lang="sr-Latn-RS" sz="3600" dirty="0" smtClean="0"/>
              <a:t>zahtev za prekidom</a:t>
            </a:r>
            <a:br>
              <a:rPr lang="sr-Latn-RS" sz="3600" dirty="0" smtClean="0"/>
            </a:br>
            <a:r>
              <a:rPr lang="sr-Latn-RS" sz="3600" dirty="0" smtClean="0"/>
              <a:t/>
            </a:r>
            <a:br>
              <a:rPr lang="sr-Latn-RS" sz="3600" dirty="0" smtClean="0"/>
            </a:br>
            <a:r>
              <a:rPr lang="sr-Latn-RS" sz="3600" dirty="0" smtClean="0"/>
              <a:t>opsluživač prekida</a:t>
            </a:r>
            <a:br>
              <a:rPr lang="sr-Latn-RS" sz="3600" dirty="0" smtClean="0"/>
            </a:br>
            <a:r>
              <a:rPr lang="sr-Latn-RS" sz="3600" dirty="0"/>
              <a:t/>
            </a:r>
            <a:br>
              <a:rPr lang="sr-Latn-RS" sz="3600" dirty="0"/>
            </a:br>
            <a:endParaRPr lang="en-US" dirty="0" smtClean="0"/>
          </a:p>
        </p:txBody>
      </p:sp>
      <p:pic>
        <p:nvPicPr>
          <p:cNvPr id="26627" name="Content Placeholder 3" descr="Fig1_5b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295400" y="1296176"/>
            <a:ext cx="2971800" cy="5422019"/>
          </a:xfrm>
        </p:spPr>
      </p:pic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Tok kontrole p</a:t>
            </a:r>
            <a:r>
              <a:rPr lang="en-US" dirty="0" err="1"/>
              <a:t>rogram</a:t>
            </a:r>
            <a:r>
              <a:rPr lang="sr-Latn-RS" dirty="0"/>
              <a:t>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sr-Latn-RS" dirty="0" smtClean="0"/>
              <a:t>Prekidi i instrukcijski ciklusi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4"/>
            <a:ext cx="4041775" cy="4225925"/>
          </a:xfrm>
        </p:spPr>
        <p:txBody>
          <a:bodyPr/>
          <a:lstStyle/>
          <a:p>
            <a:endParaRPr lang="sr-Latn-RS" dirty="0" smtClean="0"/>
          </a:p>
          <a:p>
            <a:endParaRPr lang="sr-Latn-RS" dirty="0"/>
          </a:p>
          <a:p>
            <a:r>
              <a:rPr lang="sr-Latn-RS" dirty="0" smtClean="0"/>
              <a:t>zahtev </a:t>
            </a:r>
            <a:r>
              <a:rPr lang="sr-Latn-RS" dirty="0"/>
              <a:t>za </a:t>
            </a:r>
            <a:r>
              <a:rPr lang="sr-Latn-RS" dirty="0" smtClean="0"/>
              <a:t>prekidom</a:t>
            </a:r>
          </a:p>
          <a:p>
            <a:endParaRPr lang="sr-Latn-RS" dirty="0" smtClean="0"/>
          </a:p>
          <a:p>
            <a:r>
              <a:rPr lang="sr-Latn-RS" dirty="0"/>
              <a:t>opsluživač </a:t>
            </a:r>
            <a:r>
              <a:rPr lang="sr-Latn-RS" dirty="0" smtClean="0"/>
              <a:t>prekida</a:t>
            </a:r>
          </a:p>
          <a:p>
            <a:pPr lvl="1"/>
            <a:r>
              <a:rPr lang="sr-Latn-RS" dirty="0" smtClean="0"/>
              <a:t>ISTOVREMENO izvršavanje</a:t>
            </a:r>
          </a:p>
          <a:p>
            <a:pPr marL="914400" lvl="1" indent="-457200">
              <a:buFont typeface="+mj-lt"/>
              <a:buAutoNum type="arabicPeriod"/>
            </a:pPr>
            <a:r>
              <a:rPr lang="sr-Latn-RS" dirty="0" smtClean="0"/>
              <a:t>U/I operacije i</a:t>
            </a:r>
          </a:p>
          <a:p>
            <a:pPr marL="914400" lvl="1" indent="-457200">
              <a:buFont typeface="+mj-lt"/>
              <a:buAutoNum type="arabicPeriod"/>
            </a:pPr>
            <a:r>
              <a:rPr lang="sr-Latn-RS" dirty="0" smtClean="0"/>
              <a:t>(instrukcija) korisničkog programa</a:t>
            </a:r>
          </a:p>
          <a:p>
            <a:pPr marL="400050"/>
            <a:r>
              <a:rPr lang="sr-Latn-RS" sz="2000" dirty="0" smtClean="0"/>
              <a:t>Str.17.</a:t>
            </a:r>
            <a:endParaRPr lang="en-US" sz="2000" dirty="0"/>
          </a:p>
        </p:txBody>
      </p:sp>
      <p:pic>
        <p:nvPicPr>
          <p:cNvPr id="7" name="Content Placeholder 3" descr="Fig1_5b.gif"/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961134" y="1507873"/>
            <a:ext cx="2848866" cy="5197727"/>
          </a:xfrm>
        </p:spPr>
      </p:pic>
    </p:spTree>
    <p:extLst>
      <p:ext uri="{BB962C8B-B14F-4D97-AF65-F5344CB8AC3E}">
        <p14:creationId xmlns:p14="http://schemas.microsoft.com/office/powerpoint/2010/main" xmlns="" val="1294370945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97562"/>
          </a:xfrm>
        </p:spPr>
        <p:txBody>
          <a:bodyPr/>
          <a:lstStyle/>
          <a:p>
            <a:pPr algn="r"/>
            <a:r>
              <a:rPr lang="sr-Latn-RS" dirty="0"/>
              <a:t>Tok kontrole p</a:t>
            </a:r>
            <a:r>
              <a:rPr lang="en-US" dirty="0" err="1"/>
              <a:t>rogram</a:t>
            </a:r>
            <a:r>
              <a:rPr lang="sr-Latn-RS" dirty="0" smtClean="0"/>
              <a:t>a</a:t>
            </a:r>
            <a:br>
              <a:rPr lang="sr-Latn-RS" dirty="0" smtClean="0"/>
            </a:br>
            <a:r>
              <a:rPr lang="sr-Latn-RS" dirty="0"/>
              <a:t/>
            </a:r>
            <a:br>
              <a:rPr lang="sr-Latn-RS" dirty="0"/>
            </a:br>
            <a:r>
              <a:rPr lang="sr-Latn-RS" dirty="0" smtClean="0"/>
              <a:t/>
            </a:r>
            <a:br>
              <a:rPr lang="sr-Latn-RS" dirty="0" smtClean="0"/>
            </a:br>
            <a:r>
              <a:rPr lang="sr-Latn-RS" dirty="0" smtClean="0"/>
              <a:t/>
            </a:r>
            <a:br>
              <a:rPr lang="sr-Latn-RS" dirty="0" smtClean="0"/>
            </a:br>
            <a:r>
              <a:rPr lang="sr-Latn-RS" sz="3600" dirty="0" smtClean="0"/>
              <a:t>zahtev za prekidom</a:t>
            </a:r>
            <a:br>
              <a:rPr lang="sr-Latn-RS" sz="3600" dirty="0" smtClean="0"/>
            </a:br>
            <a:r>
              <a:rPr lang="sr-Latn-RS" sz="3600" dirty="0" smtClean="0"/>
              <a:t/>
            </a:r>
            <a:br>
              <a:rPr lang="sr-Latn-RS" sz="3600" dirty="0" smtClean="0"/>
            </a:br>
            <a:r>
              <a:rPr lang="sr-Latn-RS" sz="3600" dirty="0" smtClean="0"/>
              <a:t>opsluživač prekida</a:t>
            </a:r>
            <a:br>
              <a:rPr lang="sr-Latn-RS" sz="3600" dirty="0" smtClean="0"/>
            </a:br>
            <a:r>
              <a:rPr lang="sr-Latn-RS" sz="3600" dirty="0"/>
              <a:t/>
            </a:r>
            <a:br>
              <a:rPr lang="sr-Latn-RS" sz="3600" dirty="0"/>
            </a:br>
            <a:endParaRPr lang="en-US" dirty="0" smtClean="0"/>
          </a:p>
        </p:txBody>
      </p:sp>
      <p:pic>
        <p:nvPicPr>
          <p:cNvPr id="26627" name="Content Placeholder 3" descr="Fig1_5b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295400" y="1296176"/>
            <a:ext cx="2971800" cy="5422019"/>
          </a:xfrm>
        </p:spPr>
      </p:pic>
    </p:spTree>
    <p:extLst>
      <p:ext uri="{BB962C8B-B14F-4D97-AF65-F5344CB8AC3E}">
        <p14:creationId xmlns:p14="http://schemas.microsoft.com/office/powerpoint/2010/main" xmlns="" val="101158963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Tok kontrole p</a:t>
            </a:r>
            <a:r>
              <a:rPr lang="en-US" dirty="0" err="1"/>
              <a:t>rogram</a:t>
            </a:r>
            <a:r>
              <a:rPr lang="sr-Latn-RS" dirty="0"/>
              <a:t>a</a:t>
            </a:r>
            <a:endParaRPr lang="en-US" dirty="0" smtClean="0"/>
          </a:p>
        </p:txBody>
      </p:sp>
      <p:pic>
        <p:nvPicPr>
          <p:cNvPr id="27651" name="Content Placeholder 3" descr="Fig1_5c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3124200" y="1253552"/>
            <a:ext cx="2971800" cy="5505138"/>
          </a:xfrm>
        </p:spPr>
      </p:pic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Prekidno stanje</a:t>
            </a:r>
            <a:endParaRPr lang="en-US" dirty="0" smtClean="0"/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Proces</a:t>
            </a:r>
            <a:r>
              <a:rPr lang="sr-Latn-RS" dirty="0" smtClean="0"/>
              <a:t>o</a:t>
            </a:r>
            <a:r>
              <a:rPr lang="en-US" dirty="0" smtClean="0"/>
              <a:t>r </a:t>
            </a:r>
            <a:r>
              <a:rPr lang="sr-Latn-RS" dirty="0" smtClean="0"/>
              <a:t>proverava pojavu</a:t>
            </a:r>
            <a:r>
              <a:rPr lang="en-US" dirty="0" smtClean="0"/>
              <a:t> inter</a:t>
            </a:r>
            <a:r>
              <a:rPr lang="sr-Latn-RS" dirty="0" smtClean="0"/>
              <a:t>a</a:t>
            </a:r>
            <a:r>
              <a:rPr lang="en-US" dirty="0" err="1" smtClean="0"/>
              <a:t>pt</a:t>
            </a:r>
            <a:r>
              <a:rPr lang="sr-Latn-RS" dirty="0" smtClean="0"/>
              <a:t>a</a:t>
            </a:r>
            <a:endParaRPr lang="en-US" dirty="0" smtClean="0"/>
          </a:p>
          <a:p>
            <a:r>
              <a:rPr lang="sr-Latn-RS" dirty="0" smtClean="0"/>
              <a:t>Ukoliko prekid čeka obradu </a:t>
            </a:r>
            <a:r>
              <a:rPr lang="sr-Latn-RS" sz="2400" dirty="0" smtClean="0"/>
              <a:t>procesor</a:t>
            </a:r>
            <a:r>
              <a:rPr lang="sr-Latn-RS" dirty="0" smtClean="0"/>
              <a:t>:</a:t>
            </a:r>
            <a:endParaRPr lang="en-US" dirty="0" smtClean="0"/>
          </a:p>
          <a:p>
            <a:pPr lvl="1"/>
            <a:r>
              <a:rPr lang="sr-Latn-RS" dirty="0" smtClean="0"/>
              <a:t>Prekida izvršavanje tekućeg </a:t>
            </a:r>
            <a:r>
              <a:rPr lang="en-US" dirty="0" smtClean="0"/>
              <a:t>program</a:t>
            </a:r>
            <a:r>
              <a:rPr lang="sr-Latn-RS" dirty="0" smtClean="0"/>
              <a:t>a</a:t>
            </a:r>
            <a:endParaRPr lang="en-US" dirty="0" smtClean="0"/>
          </a:p>
          <a:p>
            <a:pPr lvl="1"/>
            <a:r>
              <a:rPr lang="sr-Latn-RS" dirty="0" smtClean="0"/>
              <a:t>Izvršava </a:t>
            </a:r>
            <a:r>
              <a:rPr lang="en-US" dirty="0" err="1" smtClean="0"/>
              <a:t>rutin</a:t>
            </a:r>
            <a:r>
              <a:rPr lang="sr-Latn-RS" dirty="0" smtClean="0"/>
              <a:t>u za izvršavanje prekida</a:t>
            </a:r>
          </a:p>
          <a:p>
            <a:pPr lvl="1"/>
            <a:endParaRPr lang="sr-Latn-RS" dirty="0"/>
          </a:p>
          <a:p>
            <a:pPr lvl="1"/>
            <a:endParaRPr lang="sr-Latn-RS" dirty="0" smtClean="0"/>
          </a:p>
          <a:p>
            <a:pPr marL="457200" lvl="1" indent="0">
              <a:buNone/>
            </a:pPr>
            <a:endParaRPr lang="sr-Latn-RS" dirty="0"/>
          </a:p>
          <a:p>
            <a:pPr lvl="1"/>
            <a:endParaRPr lang="sr-Latn-RS" dirty="0" smtClean="0"/>
          </a:p>
          <a:p>
            <a:pPr lvl="1"/>
            <a:r>
              <a:rPr lang="sr-Latn-RS" sz="2000" dirty="0" smtClean="0"/>
              <a:t>Str.18</a:t>
            </a:r>
            <a:endParaRPr lang="en-US" sz="2000" dirty="0" smtClean="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Interrupt Stage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Processor checks for interrupts</a:t>
            </a:r>
          </a:p>
          <a:p>
            <a:r>
              <a:rPr lang="en-US" smtClean="0"/>
              <a:t>If interrupt</a:t>
            </a:r>
          </a:p>
          <a:p>
            <a:pPr lvl="1"/>
            <a:r>
              <a:rPr lang="en-US" smtClean="0"/>
              <a:t>Suspend execution of program</a:t>
            </a:r>
          </a:p>
          <a:p>
            <a:pPr lvl="1"/>
            <a:r>
              <a:rPr lang="en-US" smtClean="0"/>
              <a:t>Execute interrupt-handler routine</a:t>
            </a:r>
          </a:p>
        </p:txBody>
      </p:sp>
    </p:spTree>
    <p:extLst>
      <p:ext uri="{BB962C8B-B14F-4D97-AF65-F5344CB8AC3E}">
        <p14:creationId xmlns:p14="http://schemas.microsoft.com/office/powerpoint/2010/main" xmlns="" val="2780598243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Prebacivanje kontrole pomoću prekida</a:t>
            </a:r>
            <a:endParaRPr lang="en-US" dirty="0" smtClean="0"/>
          </a:p>
        </p:txBody>
      </p:sp>
      <p:pic>
        <p:nvPicPr>
          <p:cNvPr id="29699" name="Content Placeholder 3" descr="Fig01_06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524001" y="1576388"/>
            <a:ext cx="5665472" cy="4824412"/>
          </a:xfrm>
        </p:spPr>
      </p:pic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Transfer of Control via Interrupts</a:t>
            </a:r>
          </a:p>
        </p:txBody>
      </p:sp>
      <p:pic>
        <p:nvPicPr>
          <p:cNvPr id="29699" name="Content Placeholder 3" descr="Fig01_06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524001" y="1219201"/>
            <a:ext cx="5665472" cy="4824412"/>
          </a:xfrm>
        </p:spPr>
      </p:pic>
    </p:spTree>
    <p:extLst>
      <p:ext uri="{BB962C8B-B14F-4D97-AF65-F5344CB8AC3E}">
        <p14:creationId xmlns:p14="http://schemas.microsoft.com/office/powerpoint/2010/main" xmlns="" val="3637944010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Instru</a:t>
            </a:r>
            <a:r>
              <a:rPr lang="sr-Latn-RS" dirty="0" smtClean="0"/>
              <a:t>kc</a:t>
            </a:r>
            <a:r>
              <a:rPr lang="en-US" dirty="0" smtClean="0"/>
              <a:t>i</a:t>
            </a:r>
            <a:r>
              <a:rPr lang="sr-Latn-RS" dirty="0" smtClean="0"/>
              <a:t>jski</a:t>
            </a:r>
            <a:r>
              <a:rPr lang="en-US" dirty="0" smtClean="0"/>
              <a:t> </a:t>
            </a:r>
            <a:r>
              <a:rPr lang="sr-Latn-RS" dirty="0" smtClean="0"/>
              <a:t>ciklus sa prekidima</a:t>
            </a:r>
            <a:endParaRPr lang="en-US" dirty="0" smtClean="0"/>
          </a:p>
        </p:txBody>
      </p:sp>
      <p:pic>
        <p:nvPicPr>
          <p:cNvPr id="30723" name="Content Placeholder 3" descr="Fig01_07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482781" y="1524000"/>
            <a:ext cx="7936801" cy="4067175"/>
          </a:xfrm>
        </p:spPr>
      </p:pic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Instruction Cycle with Interrupts</a:t>
            </a:r>
          </a:p>
        </p:txBody>
      </p:sp>
      <p:pic>
        <p:nvPicPr>
          <p:cNvPr id="30723" name="Content Placeholder 3" descr="Fig01_07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482781" y="1524000"/>
            <a:ext cx="7936801" cy="4067175"/>
          </a:xfrm>
        </p:spPr>
      </p:pic>
    </p:spTree>
    <p:extLst>
      <p:ext uri="{BB962C8B-B14F-4D97-AF65-F5344CB8AC3E}">
        <p14:creationId xmlns:p14="http://schemas.microsoft.com/office/powerpoint/2010/main" xmlns="" val="1481331822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73162"/>
          </a:xfrm>
        </p:spPr>
        <p:txBody>
          <a:bodyPr/>
          <a:lstStyle/>
          <a:p>
            <a:r>
              <a:rPr lang="sr-Latn-RS" sz="4000" smtClean="0"/>
              <a:t>Proračun vremena izvršavanja programa</a:t>
            </a:r>
            <a:r>
              <a:rPr lang="en-US" sz="4000" smtClean="0"/>
              <a:t>:</a:t>
            </a:r>
            <a:r>
              <a:rPr lang="en-US" sz="3600" smtClean="0"/>
              <a:t> </a:t>
            </a:r>
            <a:r>
              <a:rPr lang="sr-Latn-RS" sz="3600" dirty="0" smtClean="0"/>
              <a:t>kratko čekanje U/I</a:t>
            </a:r>
            <a:endParaRPr lang="en-US" sz="3600" dirty="0" smtClean="0"/>
          </a:p>
        </p:txBody>
      </p:sp>
      <p:pic>
        <p:nvPicPr>
          <p:cNvPr id="31747" name="Content Placeholder 3" descr="Fig01_08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514600" y="1532272"/>
            <a:ext cx="3894546" cy="5040000"/>
          </a:xfrm>
        </p:spPr>
      </p:pic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sz="4000" smtClean="0"/>
              <a:t>Proračun vremena izvršavanja programa</a:t>
            </a:r>
            <a:r>
              <a:rPr lang="en-US" sz="4000" smtClean="0"/>
              <a:t>:</a:t>
            </a:r>
            <a:r>
              <a:rPr lang="sr-Latn-RS" sz="4000" smtClean="0"/>
              <a:t> dugo </a:t>
            </a:r>
            <a:r>
              <a:rPr lang="sr-Latn-RS" sz="4000" dirty="0" smtClean="0"/>
              <a:t>čekanje </a:t>
            </a:r>
            <a:r>
              <a:rPr lang="sr-Latn-RS" sz="4000" dirty="0"/>
              <a:t>U/I</a:t>
            </a:r>
            <a:endParaRPr lang="en-US" sz="4000" dirty="0" smtClean="0"/>
          </a:p>
        </p:txBody>
      </p:sp>
      <p:pic>
        <p:nvPicPr>
          <p:cNvPr id="32771" name="Content Placeholder 3" descr="Fig01_09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667000" y="1532272"/>
            <a:ext cx="3575866" cy="5040000"/>
          </a:xfrm>
        </p:spPr>
      </p:pic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 Timing: Long I/O Wait</a:t>
            </a:r>
          </a:p>
        </p:txBody>
      </p:sp>
      <p:pic>
        <p:nvPicPr>
          <p:cNvPr id="32771" name="Content Placeholder 3" descr="Fig01_09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667000" y="1156800"/>
            <a:ext cx="3936858" cy="5548800"/>
          </a:xfrm>
        </p:spPr>
      </p:pic>
    </p:spTree>
    <p:extLst>
      <p:ext uri="{BB962C8B-B14F-4D97-AF65-F5344CB8AC3E}">
        <p14:creationId xmlns:p14="http://schemas.microsoft.com/office/powerpoint/2010/main" xmlns="" val="4040436382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Jednostavna obrada prekida</a:t>
            </a:r>
            <a:endParaRPr lang="en-US" dirty="0" smtClean="0"/>
          </a:p>
        </p:txBody>
      </p:sp>
      <p:pic>
        <p:nvPicPr>
          <p:cNvPr id="5" name="Content Placeholder 4" descr="Sl-1-10-Jednostavna obrada prekida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854452" y="1543638"/>
            <a:ext cx="3435096" cy="4242816"/>
          </a:xfrm>
        </p:spPr>
      </p:pic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Simple Interrupt Processing</a:t>
            </a:r>
          </a:p>
        </p:txBody>
      </p:sp>
      <p:pic>
        <p:nvPicPr>
          <p:cNvPr id="33795" name="Content Placeholder 3" descr="Fig01_10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590801" y="1142999"/>
            <a:ext cx="4202522" cy="5550269"/>
          </a:xfrm>
        </p:spPr>
      </p:pic>
    </p:spTree>
    <p:extLst>
      <p:ext uri="{BB962C8B-B14F-4D97-AF65-F5344CB8AC3E}">
        <p14:creationId xmlns:p14="http://schemas.microsoft.com/office/powerpoint/2010/main" xmlns="" val="1046178515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Promene u m</a:t>
            </a:r>
            <a:r>
              <a:rPr lang="en-US" dirty="0" err="1" smtClean="0"/>
              <a:t>emor</a:t>
            </a:r>
            <a:r>
              <a:rPr lang="sr-Latn-RS" dirty="0" smtClean="0"/>
              <a:t>iji</a:t>
            </a:r>
            <a:r>
              <a:rPr lang="en-US" dirty="0" smtClean="0"/>
              <a:t> </a:t>
            </a:r>
            <a:r>
              <a:rPr lang="sr-Latn-RS" dirty="0" smtClean="0"/>
              <a:t>i</a:t>
            </a:r>
            <a:r>
              <a:rPr lang="en-US" dirty="0" smtClean="0"/>
              <a:t> </a:t>
            </a:r>
            <a:r>
              <a:rPr lang="sr-Latn-RS" dirty="0" smtClean="0"/>
              <a:t>r</a:t>
            </a:r>
            <a:r>
              <a:rPr lang="en-US" dirty="0" err="1" smtClean="0"/>
              <a:t>egistr</a:t>
            </a:r>
            <a:r>
              <a:rPr lang="sr-Latn-RS" dirty="0" smtClean="0"/>
              <a:t>ima</a:t>
            </a:r>
            <a:r>
              <a:rPr lang="en-US" dirty="0" smtClean="0"/>
              <a:t> </a:t>
            </a:r>
            <a:r>
              <a:rPr lang="sr-Latn-RS" dirty="0" smtClean="0"/>
              <a:t>pri prekidu</a:t>
            </a:r>
            <a:endParaRPr lang="en-US" dirty="0" smtClean="0"/>
          </a:p>
        </p:txBody>
      </p:sp>
      <p:pic>
        <p:nvPicPr>
          <p:cNvPr id="34819" name="Content Placeholder 3" descr="Fig01_11a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3352800" y="1524000"/>
            <a:ext cx="2372420" cy="5293014"/>
          </a:xfrm>
        </p:spPr>
      </p:pic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Changes in Memory and Registers for an Interrupt</a:t>
            </a:r>
          </a:p>
        </p:txBody>
      </p:sp>
      <p:pic>
        <p:nvPicPr>
          <p:cNvPr id="34819" name="Content Placeholder 3" descr="Fig01_11a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3352800" y="1524000"/>
            <a:ext cx="2372420" cy="5293014"/>
          </a:xfrm>
        </p:spPr>
      </p:pic>
    </p:spTree>
    <p:extLst>
      <p:ext uri="{BB962C8B-B14F-4D97-AF65-F5344CB8AC3E}">
        <p14:creationId xmlns:p14="http://schemas.microsoft.com/office/powerpoint/2010/main" xmlns="" val="373187917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Changes in Memory and Registers for an Interrupt</a:t>
            </a:r>
          </a:p>
        </p:txBody>
      </p:sp>
      <p:pic>
        <p:nvPicPr>
          <p:cNvPr id="35843" name="Content Placeholder 3" descr="Fig01_11b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3352800" y="1447800"/>
            <a:ext cx="2285471" cy="5308190"/>
          </a:xfrm>
        </p:spPr>
      </p:pic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Promene u m</a:t>
            </a:r>
            <a:r>
              <a:rPr lang="en-US" dirty="0" err="1"/>
              <a:t>emor</a:t>
            </a:r>
            <a:r>
              <a:rPr lang="sr-Latn-RS" dirty="0"/>
              <a:t>iji</a:t>
            </a:r>
            <a:r>
              <a:rPr lang="en-US" dirty="0"/>
              <a:t> </a:t>
            </a:r>
            <a:r>
              <a:rPr lang="sr-Latn-RS" dirty="0"/>
              <a:t>i</a:t>
            </a:r>
            <a:r>
              <a:rPr lang="en-US" dirty="0"/>
              <a:t> </a:t>
            </a:r>
            <a:r>
              <a:rPr lang="sr-Latn-RS" dirty="0"/>
              <a:t>r</a:t>
            </a:r>
            <a:r>
              <a:rPr lang="en-US" dirty="0" err="1"/>
              <a:t>egistr</a:t>
            </a:r>
            <a:r>
              <a:rPr lang="sr-Latn-RS" dirty="0"/>
              <a:t>ima</a:t>
            </a:r>
            <a:r>
              <a:rPr lang="en-US" dirty="0"/>
              <a:t> </a:t>
            </a:r>
            <a:r>
              <a:rPr lang="sr-Latn-RS" dirty="0"/>
              <a:t>pri prekidu</a:t>
            </a:r>
            <a:endParaRPr lang="en-US" dirty="0" smtClean="0"/>
          </a:p>
        </p:txBody>
      </p:sp>
      <p:pic>
        <p:nvPicPr>
          <p:cNvPr id="35843" name="Content Placeholder 3" descr="Fig01_11b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3352800" y="1447800"/>
            <a:ext cx="2285471" cy="5308190"/>
          </a:xfrm>
        </p:spPr>
      </p:pic>
    </p:spTree>
    <p:extLst>
      <p:ext uri="{BB962C8B-B14F-4D97-AF65-F5344CB8AC3E}">
        <p14:creationId xmlns:p14="http://schemas.microsoft.com/office/powerpoint/2010/main" xmlns="" val="3608559572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</a:t>
            </a:r>
            <a:r>
              <a:rPr lang="sr-Latn-RS" dirty="0" smtClean="0"/>
              <a:t>kv</a:t>
            </a:r>
            <a:r>
              <a:rPr lang="en-US" dirty="0" smtClean="0"/>
              <a:t>en</a:t>
            </a:r>
            <a:r>
              <a:rPr lang="sr-Latn-RS" dirty="0" smtClean="0"/>
              <a:t>c</a:t>
            </a:r>
            <a:r>
              <a:rPr lang="en-US" dirty="0" smtClean="0"/>
              <a:t>i</a:t>
            </a:r>
            <a:r>
              <a:rPr lang="sr-Latn-RS" dirty="0" smtClean="0"/>
              <a:t>j</a:t>
            </a:r>
            <a:r>
              <a:rPr lang="en-US" dirty="0" smtClean="0"/>
              <a:t>al</a:t>
            </a:r>
            <a:r>
              <a:rPr lang="sr-Latn-RS" dirty="0" smtClean="0"/>
              <a:t>na</a:t>
            </a:r>
            <a:r>
              <a:rPr lang="en-US" dirty="0" smtClean="0"/>
              <a:t> </a:t>
            </a:r>
            <a:r>
              <a:rPr lang="sr-Latn-RS" dirty="0" smtClean="0"/>
              <a:t>obrada prekida</a:t>
            </a: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smtClean="0"/>
              <a:t>Prvi pristup:</a:t>
            </a:r>
          </a:p>
          <a:p>
            <a:pPr lvl="1"/>
            <a:r>
              <a:rPr lang="sr-Latn-RS" u="sng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onemogućavanje</a:t>
            </a:r>
            <a:r>
              <a:rPr lang="sr-Latn-RS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prekida u vreme obrade prekida</a:t>
            </a:r>
          </a:p>
          <a:p>
            <a:r>
              <a:rPr lang="sr-Latn-RS" smtClean="0"/>
              <a:t>Prekidi se obrađuju strogo prema redosledu;</a:t>
            </a:r>
          </a:p>
          <a:p>
            <a:r>
              <a:rPr lang="sr-Latn-RS" smtClean="0"/>
              <a:t>Loša strana:</a:t>
            </a:r>
          </a:p>
          <a:p>
            <a:pPr lvl="1"/>
            <a:r>
              <a:rPr lang="sr-Latn-RS" smtClean="0"/>
              <a:t>ne vodi se računa o relativnom prioritetu ili</a:t>
            </a:r>
          </a:p>
          <a:p>
            <a:pPr lvl="1"/>
            <a:r>
              <a:rPr lang="sr-Latn-RS" smtClean="0"/>
              <a:t>vremenski kritičnim potrebama.</a:t>
            </a:r>
            <a:endParaRPr lang="en-US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</a:t>
            </a:r>
            <a:r>
              <a:rPr lang="sr-Latn-RS" dirty="0" smtClean="0"/>
              <a:t>kv</a:t>
            </a:r>
            <a:r>
              <a:rPr lang="en-US" dirty="0" smtClean="0"/>
              <a:t>en</a:t>
            </a:r>
            <a:r>
              <a:rPr lang="sr-Latn-RS" dirty="0" smtClean="0"/>
              <a:t>c</a:t>
            </a:r>
            <a:r>
              <a:rPr lang="en-US" dirty="0" smtClean="0"/>
              <a:t>i</a:t>
            </a:r>
            <a:r>
              <a:rPr lang="sr-Latn-RS" dirty="0" smtClean="0"/>
              <a:t>j</a:t>
            </a:r>
            <a:r>
              <a:rPr lang="en-US" dirty="0" smtClean="0"/>
              <a:t>al</a:t>
            </a:r>
            <a:r>
              <a:rPr lang="sr-Latn-RS" dirty="0" smtClean="0"/>
              <a:t>na</a:t>
            </a:r>
            <a:r>
              <a:rPr lang="en-US" dirty="0" smtClean="0"/>
              <a:t> </a:t>
            </a:r>
            <a:r>
              <a:rPr lang="sr-Latn-RS" dirty="0" smtClean="0"/>
              <a:t>obrada prekida</a:t>
            </a:r>
            <a:endParaRPr lang="en-US" dirty="0" smtClean="0"/>
          </a:p>
        </p:txBody>
      </p:sp>
      <p:pic>
        <p:nvPicPr>
          <p:cNvPr id="36867" name="Content Placeholder 3" descr="Fig01_12a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362492" y="1295400"/>
            <a:ext cx="6409908" cy="4648200"/>
          </a:xfrm>
        </p:spPr>
      </p:pic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Sequential Interrupt Processing</a:t>
            </a:r>
          </a:p>
        </p:txBody>
      </p:sp>
      <p:pic>
        <p:nvPicPr>
          <p:cNvPr id="36867" name="Content Placeholder 3" descr="Fig01_12a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362492" y="1295400"/>
            <a:ext cx="6409908" cy="4648200"/>
          </a:xfrm>
        </p:spPr>
      </p:pic>
    </p:spTree>
    <p:extLst>
      <p:ext uri="{BB962C8B-B14F-4D97-AF65-F5344CB8AC3E}">
        <p14:creationId xmlns:p14="http://schemas.microsoft.com/office/powerpoint/2010/main" xmlns="" val="2541443440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Ugnježdena</a:t>
            </a:r>
            <a:r>
              <a:rPr lang="en-US" dirty="0" smtClean="0"/>
              <a:t> </a:t>
            </a:r>
            <a:r>
              <a:rPr lang="sr-Latn-RS" dirty="0"/>
              <a:t>obrada prekida</a:t>
            </a:r>
            <a:endParaRPr lang="en-US" dirty="0" smtClean="0"/>
          </a:p>
        </p:txBody>
      </p:sp>
      <p:pic>
        <p:nvPicPr>
          <p:cNvPr id="37891" name="Content Placeholder 3" descr="Fig01_12b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705993" y="1309687"/>
            <a:ext cx="6155902" cy="4633913"/>
          </a:xfrm>
        </p:spPr>
      </p:pic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Ugnježdena</a:t>
            </a:r>
            <a:r>
              <a:rPr lang="en-US" dirty="0" smtClean="0"/>
              <a:t> </a:t>
            </a:r>
            <a:r>
              <a:rPr lang="sr-Latn-RS"/>
              <a:t>obrada </a:t>
            </a:r>
            <a:r>
              <a:rPr lang="sr-Latn-RS" smtClean="0"/>
              <a:t>prekida (2)</a:t>
            </a:r>
            <a:br>
              <a:rPr lang="sr-Latn-RS" smtClean="0"/>
            </a:br>
            <a:r>
              <a:rPr lang="sr-Latn-RS" sz="2800" smtClean="0"/>
              <a:t>Primer vremenske sekvence višestrukih prekida</a:t>
            </a:r>
            <a:endParaRPr lang="en-US" sz="2800" dirty="0" smtClean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smtClean="0"/>
              <a:t>Drugi pristup</a:t>
            </a:r>
            <a:endParaRPr lang="en-US" smtClean="0"/>
          </a:p>
          <a:p>
            <a:pPr lvl="1"/>
            <a:r>
              <a:rPr lang="sr-Latn-RS" smtClean="0"/>
              <a:t>da se definišu prioriteti prekida i</a:t>
            </a:r>
          </a:p>
          <a:p>
            <a:pPr lvl="1"/>
            <a:r>
              <a:rPr lang="sr-Latn-RS" smtClean="0"/>
              <a:t>da se dozvoli da </a:t>
            </a:r>
            <a:r>
              <a:rPr lang="sr-Latn-RS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prioritet sa </a:t>
            </a:r>
            <a:r>
              <a:rPr lang="sr-Latn-RS" u="sng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višim prioritetom</a:t>
            </a:r>
            <a:r>
              <a:rPr lang="sr-Latn-RS" smtClean="0"/>
              <a:t> izazove </a:t>
            </a:r>
            <a:r>
              <a:rPr lang="sr-Latn-RS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prekid prekida sa </a:t>
            </a:r>
            <a:r>
              <a:rPr lang="sr-Latn-RS" u="sng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nižim prioritetim</a:t>
            </a:r>
            <a:r>
              <a:rPr lang="sr-Latn-RS" smtClean="0"/>
              <a:t>.</a:t>
            </a:r>
            <a:endParaRPr lang="en-US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Ugnježdena</a:t>
            </a:r>
            <a:r>
              <a:rPr lang="en-US" dirty="0" smtClean="0"/>
              <a:t> </a:t>
            </a:r>
            <a:r>
              <a:rPr lang="sr-Latn-RS"/>
              <a:t>obrada </a:t>
            </a:r>
            <a:r>
              <a:rPr lang="sr-Latn-RS" smtClean="0"/>
              <a:t>prekida (3)</a:t>
            </a:r>
            <a:br>
              <a:rPr lang="sr-Latn-RS" smtClean="0"/>
            </a:br>
            <a:r>
              <a:rPr lang="sr-Latn-RS" sz="2800" smtClean="0"/>
              <a:t>Primer vremenske sekvence višestrukih prekida</a:t>
            </a:r>
            <a:endParaRPr lang="en-US" sz="2800" dirty="0" smtClean="0"/>
          </a:p>
        </p:txBody>
      </p:sp>
      <p:pic>
        <p:nvPicPr>
          <p:cNvPr id="5" name="Content Placeholder 4" descr="Sl-1-13-Primer vremenske sekvence višestrukih prekida.jpg"/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457200" y="1980590"/>
            <a:ext cx="4686304" cy="3307979"/>
          </a:xfrm>
        </p:spPr>
      </p:pic>
      <p:graphicFrame>
        <p:nvGraphicFramePr>
          <p:cNvPr id="7" name="Content Placeholder 6"/>
          <p:cNvGraphicFramePr>
            <a:graphicFrameLocks noGrp="1"/>
          </p:cNvGraphicFramePr>
          <p:nvPr>
            <p:ph sz="half" idx="2"/>
          </p:nvPr>
        </p:nvGraphicFramePr>
        <p:xfrm>
          <a:off x="5572132" y="2357430"/>
          <a:ext cx="3252782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198"/>
                <a:gridCol w="785818"/>
                <a:gridCol w="966766"/>
              </a:tblGrid>
              <a:tr h="370840">
                <a:tc>
                  <a:txBody>
                    <a:bodyPr/>
                    <a:lstStyle/>
                    <a:p>
                      <a:r>
                        <a:rPr lang="sr-Latn-RS" smtClean="0"/>
                        <a:t>U/I</a:t>
                      </a:r>
                      <a:r>
                        <a:rPr lang="sr-Latn-RS" baseline="0" smtClean="0"/>
                        <a:t> </a:t>
                      </a:r>
                      <a:r>
                        <a:rPr lang="sr-Latn-RS" baseline="0" smtClean="0"/>
                        <a:t>uređaj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N</a:t>
                      </a:r>
                      <a:r>
                        <a:rPr lang="sr-Latn-RS" smtClean="0"/>
                        <a:t>ivo priori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V</a:t>
                      </a:r>
                      <a:r>
                        <a:rPr lang="sr-Latn-RS" smtClean="0"/>
                        <a:t>reme pojavlj</a:t>
                      </a:r>
                    </a:p>
                    <a:p>
                      <a:pPr algn="ctr"/>
                      <a:r>
                        <a:rPr lang="sr-Latn-RS" smtClean="0"/>
                        <a:t> t=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mtClean="0"/>
                        <a:t>Š</a:t>
                      </a:r>
                      <a:r>
                        <a:rPr lang="sr-Latn-RS" smtClean="0"/>
                        <a:t>tampač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mtClean="0"/>
                        <a:t>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mtClean="0"/>
                        <a:t>10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mtClean="0"/>
                        <a:t>D</a:t>
                      </a:r>
                      <a:r>
                        <a:rPr lang="sr-Latn-RS" smtClean="0"/>
                        <a:t>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mtClean="0"/>
                        <a:t>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mtClean="0"/>
                        <a:t>20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mtClean="0"/>
                        <a:t>K</a:t>
                      </a:r>
                      <a:r>
                        <a:rPr lang="sr-Latn-RS" smtClean="0"/>
                        <a:t>omunikac. uređaj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mtClean="0"/>
                        <a:t>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mtClean="0"/>
                        <a:t>15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Multiprogrami</a:t>
            </a:r>
            <a:r>
              <a:rPr lang="sr-Latn-RS" dirty="0" smtClean="0"/>
              <a:t>ranje</a:t>
            </a:r>
            <a:endParaRPr lang="en-US" dirty="0" smtClean="0"/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Procesor</a:t>
            </a:r>
            <a:r>
              <a:rPr lang="en-US" dirty="0" smtClean="0"/>
              <a:t> </a:t>
            </a:r>
            <a:r>
              <a:rPr lang="sr-Latn-RS" dirty="0" smtClean="0"/>
              <a:t>ima dva ili više </a:t>
            </a:r>
            <a:r>
              <a:rPr lang="en-US" dirty="0" smtClean="0"/>
              <a:t>program</a:t>
            </a:r>
            <a:r>
              <a:rPr lang="sr-Latn-RS" dirty="0" smtClean="0"/>
              <a:t>a</a:t>
            </a:r>
            <a:r>
              <a:rPr lang="en-US" dirty="0" smtClean="0"/>
              <a:t> </a:t>
            </a:r>
            <a:r>
              <a:rPr lang="sr-Latn-RS" dirty="0" smtClean="0"/>
              <a:t>za </a:t>
            </a:r>
            <a:r>
              <a:rPr lang="en-US" dirty="0" smtClean="0"/>
              <a:t> </a:t>
            </a:r>
            <a:r>
              <a:rPr lang="sr-Latn-RS" dirty="0" smtClean="0"/>
              <a:t>izvršavanje</a:t>
            </a:r>
            <a:endParaRPr lang="en-US" dirty="0" smtClean="0"/>
          </a:p>
          <a:p>
            <a:r>
              <a:rPr lang="sr-Latn-RS" dirty="0" smtClean="0"/>
              <a:t>Redosled izvršavanja programa zavisiće od njihovog relativnog prioriteta kao i od toga da li čekaju na </a:t>
            </a:r>
            <a:r>
              <a:rPr lang="sr-Latn-RS" dirty="0"/>
              <a:t>U</a:t>
            </a:r>
            <a:r>
              <a:rPr lang="en-US" dirty="0" smtClean="0"/>
              <a:t>/</a:t>
            </a:r>
            <a:r>
              <a:rPr lang="sr-Latn-RS" dirty="0"/>
              <a:t>I</a:t>
            </a:r>
            <a:endParaRPr lang="en-US" dirty="0" smtClean="0"/>
          </a:p>
          <a:p>
            <a:r>
              <a:rPr lang="sr-Latn-RS" dirty="0" smtClean="0"/>
              <a:t>Po završetku rutine za obradu prekida upravljanje možda neće biti odmah vraćeno korisničkom programu koji se u to vreme izvršavao</a:t>
            </a:r>
          </a:p>
          <a:p>
            <a:r>
              <a:rPr lang="sr-Latn-RS" sz="2000" dirty="0" smtClean="0"/>
              <a:t>Str.26</a:t>
            </a:r>
            <a:endParaRPr lang="en-US" sz="2000" dirty="0" smtClean="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Multiprogramming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Processor has more than one program to execute</a:t>
            </a:r>
          </a:p>
          <a:p>
            <a:r>
              <a:rPr lang="en-US" dirty="0" smtClean="0"/>
              <a:t>The sequence in which programs are executed depend on their relative priority and whether they are waiting for I/O</a:t>
            </a:r>
          </a:p>
          <a:p>
            <a:r>
              <a:rPr lang="en-US" dirty="0" smtClean="0"/>
              <a:t>After an interrupt handler completes, control may not return to the program that was executing at the time of the interrupt</a:t>
            </a:r>
          </a:p>
        </p:txBody>
      </p:sp>
    </p:spTree>
    <p:extLst>
      <p:ext uri="{BB962C8B-B14F-4D97-AF65-F5344CB8AC3E}">
        <p14:creationId xmlns:p14="http://schemas.microsoft.com/office/powerpoint/2010/main" xmlns="" val="3664796571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1.5 </a:t>
            </a:r>
            <a:r>
              <a:rPr lang="en-US" dirty="0" smtClean="0"/>
              <a:t>Hi</a:t>
            </a:r>
            <a:r>
              <a:rPr lang="sr-Latn-RS" dirty="0" smtClean="0"/>
              <a:t>j</a:t>
            </a:r>
            <a:r>
              <a:rPr lang="en-US" dirty="0" err="1" smtClean="0"/>
              <a:t>erar</a:t>
            </a:r>
            <a:r>
              <a:rPr lang="sr-Latn-RS" dirty="0" smtClean="0"/>
              <a:t>hija m</a:t>
            </a:r>
            <a:r>
              <a:rPr lang="en-US" dirty="0" err="1" smtClean="0"/>
              <a:t>emor</a:t>
            </a:r>
            <a:r>
              <a:rPr lang="sr-Latn-RS" dirty="0" smtClean="0"/>
              <a:t>ije</a:t>
            </a:r>
            <a:endParaRPr lang="en-US" dirty="0" smtClean="0"/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smtClean="0"/>
              <a:t>Ograničenja pri projektovanju:</a:t>
            </a:r>
          </a:p>
          <a:p>
            <a:pPr marL="914400" lvl="1" indent="-514350">
              <a:buFont typeface="+mj-lt"/>
              <a:buAutoNum type="arabicPeriod"/>
            </a:pPr>
            <a:r>
              <a:rPr lang="sr-Latn-RS" smtClean="0"/>
              <a:t>koliko memorije;</a:t>
            </a:r>
          </a:p>
          <a:p>
            <a:pPr marL="914400" lvl="1" indent="-514350">
              <a:buFont typeface="+mj-lt"/>
              <a:buAutoNum type="arabicPeriod"/>
            </a:pPr>
            <a:r>
              <a:rPr lang="sr-Latn-RS" smtClean="0"/>
              <a:t>koliko da bude brza i</a:t>
            </a:r>
          </a:p>
          <a:p>
            <a:pPr marL="914400" lvl="1" indent="-514350">
              <a:buFont typeface="+mj-lt"/>
              <a:buAutoNum type="arabicPeriod"/>
            </a:pPr>
            <a:r>
              <a:rPr lang="sr-Latn-RS" smtClean="0"/>
              <a:t>koliko da košta?</a:t>
            </a:r>
          </a:p>
          <a:p>
            <a:pPr>
              <a:buNone/>
            </a:pPr>
            <a:endParaRPr lang="sr-Latn-RS" dirty="0"/>
          </a:p>
          <a:p>
            <a:pPr>
              <a:buNone/>
            </a:pPr>
            <a:endParaRPr lang="sr-Latn-RS" dirty="0" smtClean="0"/>
          </a:p>
          <a:p>
            <a:endParaRPr lang="sr-Latn-RS" dirty="0"/>
          </a:p>
          <a:p>
            <a:endParaRPr lang="sr-Latn-RS" dirty="0" smtClean="0"/>
          </a:p>
          <a:p>
            <a:r>
              <a:rPr lang="sr-Latn-RS" sz="2000" dirty="0" smtClean="0"/>
              <a:t>Str.27</a:t>
            </a:r>
            <a:endParaRPr lang="en-US" sz="2000" dirty="0" smtClean="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1.5 </a:t>
            </a:r>
            <a:r>
              <a:rPr lang="en-US" dirty="0" smtClean="0"/>
              <a:t>Hi</a:t>
            </a:r>
            <a:r>
              <a:rPr lang="sr-Latn-RS" dirty="0" smtClean="0"/>
              <a:t>j</a:t>
            </a:r>
            <a:r>
              <a:rPr lang="en-US" dirty="0" err="1" smtClean="0"/>
              <a:t>erar</a:t>
            </a:r>
            <a:r>
              <a:rPr lang="sr-Latn-RS" dirty="0" smtClean="0"/>
              <a:t>hija m</a:t>
            </a:r>
            <a:r>
              <a:rPr lang="en-US" dirty="0" err="1" smtClean="0"/>
              <a:t>emor</a:t>
            </a:r>
            <a:r>
              <a:rPr lang="sr-Latn-RS" dirty="0" smtClean="0"/>
              <a:t>ije</a:t>
            </a:r>
            <a:endParaRPr lang="en-US" dirty="0" smtClean="0"/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/>
            <a:r>
              <a:rPr lang="sr-Latn-RS" smtClean="0"/>
              <a:t>Postojanje KOMPROMISA između tri ključne karakteristike:</a:t>
            </a:r>
          </a:p>
          <a:p>
            <a:pPr marL="914400" lvl="1" indent="-514350">
              <a:buFont typeface="+mj-lt"/>
              <a:buAutoNum type="arabicPeriod"/>
            </a:pPr>
            <a:r>
              <a:rPr lang="sr-Latn-RS" smtClean="0"/>
              <a:t>cena;</a:t>
            </a:r>
          </a:p>
          <a:p>
            <a:pPr marL="914400" lvl="1" indent="-514350">
              <a:buFont typeface="+mj-lt"/>
              <a:buAutoNum type="arabicPeriod"/>
            </a:pPr>
            <a:r>
              <a:rPr lang="sr-Latn-RS" smtClean="0"/>
              <a:t>kapacitet i </a:t>
            </a:r>
          </a:p>
          <a:p>
            <a:pPr marL="914400" lvl="1" indent="-514350">
              <a:buFont typeface="+mj-lt"/>
              <a:buAutoNum type="arabicPeriod"/>
            </a:pPr>
            <a:r>
              <a:rPr lang="sr-Latn-RS" smtClean="0"/>
              <a:t>vreme pristupa.</a:t>
            </a:r>
            <a:endParaRPr lang="sr-Latn-RS" dirty="0" smtClean="0"/>
          </a:p>
          <a:p>
            <a:endParaRPr lang="sr-Latn-RS" dirty="0"/>
          </a:p>
          <a:p>
            <a:endParaRPr lang="sr-Latn-RS" dirty="0" smtClean="0"/>
          </a:p>
          <a:p>
            <a:endParaRPr lang="sr-Latn-RS" dirty="0"/>
          </a:p>
          <a:p>
            <a:endParaRPr lang="sr-Latn-RS" dirty="0" smtClean="0"/>
          </a:p>
          <a:p>
            <a:r>
              <a:rPr lang="sr-Latn-RS" sz="2000" dirty="0" smtClean="0"/>
              <a:t>Str.27</a:t>
            </a:r>
            <a:endParaRPr lang="en-US" sz="2000" dirty="0" smtClean="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1.5 </a:t>
            </a:r>
            <a:r>
              <a:rPr lang="en-US" dirty="0" smtClean="0"/>
              <a:t>Hi</a:t>
            </a:r>
            <a:r>
              <a:rPr lang="sr-Latn-RS" dirty="0" smtClean="0"/>
              <a:t>j</a:t>
            </a:r>
            <a:r>
              <a:rPr lang="en-US" dirty="0" err="1" smtClean="0"/>
              <a:t>erar</a:t>
            </a:r>
            <a:r>
              <a:rPr lang="sr-Latn-RS" dirty="0" smtClean="0"/>
              <a:t>hija m</a:t>
            </a:r>
            <a:r>
              <a:rPr lang="en-US" dirty="0" err="1" smtClean="0"/>
              <a:t>emor</a:t>
            </a:r>
            <a:r>
              <a:rPr lang="sr-Latn-RS" dirty="0" smtClean="0"/>
              <a:t>ije</a:t>
            </a:r>
            <a:endParaRPr lang="en-US" dirty="0" smtClean="0"/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sr-Latn-RS" smtClean="0"/>
              <a:t>Za širok asortiman tehnologija važe sledeći odnosi:</a:t>
            </a:r>
          </a:p>
          <a:p>
            <a:r>
              <a:rPr lang="sr-Latn-RS" smtClean="0"/>
              <a:t>Brže </a:t>
            </a:r>
            <a:r>
              <a:rPr lang="sr-Latn-RS" dirty="0" smtClean="0"/>
              <a:t>vreme pristupa</a:t>
            </a:r>
            <a:r>
              <a:rPr lang="en-US" dirty="0" smtClean="0"/>
              <a:t>, </a:t>
            </a:r>
            <a:r>
              <a:rPr lang="sr-Latn-RS" dirty="0" smtClean="0"/>
              <a:t>veća cena po bitu</a:t>
            </a:r>
          </a:p>
          <a:p>
            <a:r>
              <a:rPr lang="sr-Latn-RS" dirty="0" smtClean="0"/>
              <a:t>Veći kapacitet</a:t>
            </a:r>
            <a:r>
              <a:rPr lang="en-US" dirty="0" smtClean="0"/>
              <a:t>, </a:t>
            </a:r>
            <a:r>
              <a:rPr lang="sr-Latn-RS" dirty="0" smtClean="0"/>
              <a:t>manji troškovi po </a:t>
            </a:r>
            <a:r>
              <a:rPr lang="en-US" dirty="0" smtClean="0"/>
              <a:t>bit</a:t>
            </a:r>
            <a:r>
              <a:rPr lang="sr-Latn-RS" dirty="0" smtClean="0"/>
              <a:t>u</a:t>
            </a:r>
            <a:endParaRPr lang="en-US" dirty="0" smtClean="0"/>
          </a:p>
          <a:p>
            <a:r>
              <a:rPr lang="sr-Latn-RS" dirty="0" smtClean="0"/>
              <a:t>Veći kapacitet</a:t>
            </a:r>
            <a:r>
              <a:rPr lang="en-US" dirty="0" smtClean="0"/>
              <a:t>, </a:t>
            </a:r>
            <a:r>
              <a:rPr lang="sr-Latn-RS" dirty="0" smtClean="0"/>
              <a:t>manja brzina pristupa</a:t>
            </a:r>
          </a:p>
          <a:p>
            <a:endParaRPr lang="sr-Latn-RS" dirty="0"/>
          </a:p>
          <a:p>
            <a:endParaRPr lang="sr-Latn-RS" dirty="0" smtClean="0"/>
          </a:p>
          <a:p>
            <a:endParaRPr lang="sr-Latn-RS" dirty="0"/>
          </a:p>
          <a:p>
            <a:endParaRPr lang="sr-Latn-RS" dirty="0" smtClean="0"/>
          </a:p>
          <a:p>
            <a:r>
              <a:rPr lang="sr-Latn-RS" sz="2000" dirty="0" smtClean="0"/>
              <a:t>Str.27</a:t>
            </a:r>
            <a:endParaRPr lang="en-US" sz="2000" dirty="0" smtClean="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Hierarchy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Faster access time, greater cost per bit</a:t>
            </a:r>
          </a:p>
          <a:p>
            <a:r>
              <a:rPr lang="en-US" smtClean="0"/>
              <a:t>Greater capacity, smaller cost per bit</a:t>
            </a:r>
          </a:p>
          <a:p>
            <a:r>
              <a:rPr lang="en-US" smtClean="0"/>
              <a:t>Greater capacity, slower access speed</a:t>
            </a:r>
          </a:p>
        </p:txBody>
      </p:sp>
    </p:spTree>
    <p:extLst>
      <p:ext uri="{BB962C8B-B14F-4D97-AF65-F5344CB8AC3E}">
        <p14:creationId xmlns:p14="http://schemas.microsoft.com/office/powerpoint/2010/main" xmlns="" val="2512794603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</a:t>
            </a:r>
            <a:r>
              <a:rPr lang="sr-Latn-RS" dirty="0"/>
              <a:t>j</a:t>
            </a:r>
            <a:r>
              <a:rPr lang="en-US" dirty="0" err="1"/>
              <a:t>erar</a:t>
            </a:r>
            <a:r>
              <a:rPr lang="sr-Latn-RS" dirty="0"/>
              <a:t>hija m</a:t>
            </a:r>
            <a:r>
              <a:rPr lang="en-US" dirty="0" err="1"/>
              <a:t>emor</a:t>
            </a:r>
            <a:r>
              <a:rPr lang="sr-Latn-RS" dirty="0"/>
              <a:t>ije</a:t>
            </a:r>
            <a:endParaRPr lang="en-US" dirty="0" smtClean="0"/>
          </a:p>
        </p:txBody>
      </p:sp>
      <p:pic>
        <p:nvPicPr>
          <p:cNvPr id="40963" name="Content Placeholder 3" descr="Fig01_14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209800" y="1219200"/>
            <a:ext cx="4916534" cy="5500062"/>
          </a:xfrm>
        </p:spPr>
      </p:pic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Memory Hierarchy</a:t>
            </a:r>
          </a:p>
        </p:txBody>
      </p:sp>
      <p:pic>
        <p:nvPicPr>
          <p:cNvPr id="40963" name="Content Placeholder 3" descr="Fig01_14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209800" y="1219200"/>
            <a:ext cx="4916534" cy="5500062"/>
          </a:xfrm>
        </p:spPr>
      </p:pic>
    </p:spTree>
    <p:extLst>
      <p:ext uri="{BB962C8B-B14F-4D97-AF65-F5344CB8AC3E}">
        <p14:creationId xmlns:p14="http://schemas.microsoft.com/office/powerpoint/2010/main" xmlns="" val="1150619526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Spuštanje niz h</a:t>
            </a:r>
            <a:r>
              <a:rPr lang="en-US" dirty="0" smtClean="0"/>
              <a:t>i</a:t>
            </a:r>
            <a:r>
              <a:rPr lang="sr-Latn-RS" dirty="0" smtClean="0"/>
              <a:t>j</a:t>
            </a:r>
            <a:r>
              <a:rPr lang="en-US" dirty="0" err="1" smtClean="0"/>
              <a:t>erar</a:t>
            </a:r>
            <a:r>
              <a:rPr lang="sr-Latn-RS" dirty="0" smtClean="0"/>
              <a:t>hiju</a:t>
            </a:r>
            <a:endParaRPr lang="en-US" dirty="0" smtClean="0"/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Smanjuje se cena po bitu</a:t>
            </a:r>
          </a:p>
          <a:p>
            <a:r>
              <a:rPr lang="sr-Latn-RS" dirty="0" smtClean="0"/>
              <a:t>Povećava se kapacitet</a:t>
            </a:r>
          </a:p>
          <a:p>
            <a:r>
              <a:rPr lang="sr-Latn-RS" dirty="0"/>
              <a:t>Povećava se </a:t>
            </a:r>
            <a:r>
              <a:rPr lang="sr-Latn-RS" dirty="0" smtClean="0"/>
              <a:t>vreme pristupa</a:t>
            </a:r>
            <a:endParaRPr lang="en-US" dirty="0" smtClean="0"/>
          </a:p>
          <a:p>
            <a:r>
              <a:rPr lang="sr-Latn-RS" dirty="0"/>
              <a:t>Smanjuje se</a:t>
            </a:r>
            <a:r>
              <a:rPr lang="en-US" dirty="0" smtClean="0"/>
              <a:t> </a:t>
            </a:r>
            <a:r>
              <a:rPr lang="sr-Latn-RS" dirty="0" smtClean="0"/>
              <a:t>učestanost pristupa </a:t>
            </a:r>
            <a:r>
              <a:rPr lang="en-US" dirty="0" err="1" smtClean="0"/>
              <a:t>procesor</a:t>
            </a:r>
            <a:r>
              <a:rPr lang="sr-Latn-RS" dirty="0" smtClean="0"/>
              <a:t>a </a:t>
            </a:r>
            <a:r>
              <a:rPr lang="en-US" dirty="0" err="1" smtClean="0"/>
              <a:t>memor</a:t>
            </a:r>
            <a:r>
              <a:rPr lang="sr-Latn-RS" dirty="0" smtClean="0"/>
              <a:t>iji</a:t>
            </a:r>
          </a:p>
          <a:p>
            <a:endParaRPr lang="sr-Latn-RS" dirty="0"/>
          </a:p>
          <a:p>
            <a:endParaRPr lang="sr-Latn-RS" dirty="0" smtClean="0"/>
          </a:p>
          <a:p>
            <a:r>
              <a:rPr lang="sr-Latn-RS" sz="2000" dirty="0" smtClean="0"/>
              <a:t>Str.27</a:t>
            </a:r>
            <a:endParaRPr lang="en-US" sz="2000" dirty="0" smtClean="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Going Down the Hierarchy</a:t>
            </a:r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Decreasing cost per bit</a:t>
            </a:r>
          </a:p>
          <a:p>
            <a:r>
              <a:rPr lang="en-US" smtClean="0"/>
              <a:t>Increasing capacity</a:t>
            </a:r>
          </a:p>
          <a:p>
            <a:r>
              <a:rPr lang="en-US" smtClean="0"/>
              <a:t>Increasing access time</a:t>
            </a:r>
          </a:p>
          <a:p>
            <a:r>
              <a:rPr lang="en-US" smtClean="0"/>
              <a:t>Decreasing frequency of access to the memory by the processor</a:t>
            </a:r>
          </a:p>
        </p:txBody>
      </p:sp>
    </p:spTree>
    <p:extLst>
      <p:ext uri="{BB962C8B-B14F-4D97-AF65-F5344CB8AC3E}">
        <p14:creationId xmlns:p14="http://schemas.microsoft.com/office/powerpoint/2010/main" xmlns="" val="3250537885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</a:t>
            </a:r>
            <a:r>
              <a:rPr lang="sr-Latn-RS" dirty="0" smtClean="0"/>
              <a:t>ku</a:t>
            </a:r>
            <a:r>
              <a:rPr lang="en-US" dirty="0" err="1" smtClean="0"/>
              <a:t>ndar</a:t>
            </a:r>
            <a:r>
              <a:rPr lang="sr-Latn-RS" dirty="0" smtClean="0"/>
              <a:t>na</a:t>
            </a:r>
            <a:r>
              <a:rPr lang="en-US" dirty="0" smtClean="0"/>
              <a:t> </a:t>
            </a:r>
            <a:r>
              <a:rPr lang="sr-Latn-RS" dirty="0"/>
              <a:t>m</a:t>
            </a:r>
            <a:r>
              <a:rPr lang="en-US" dirty="0" err="1" smtClean="0"/>
              <a:t>emor</a:t>
            </a:r>
            <a:r>
              <a:rPr lang="sr-Latn-RS" dirty="0" smtClean="0"/>
              <a:t>ija</a:t>
            </a:r>
            <a:endParaRPr lang="en-US" dirty="0" smtClean="0"/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Pomoćna</a:t>
            </a:r>
            <a:r>
              <a:rPr lang="en-US" dirty="0" smtClean="0"/>
              <a:t> </a:t>
            </a:r>
            <a:r>
              <a:rPr lang="en-US" dirty="0" err="1" smtClean="0"/>
              <a:t>memor</a:t>
            </a:r>
            <a:r>
              <a:rPr lang="sr-Latn-RS" dirty="0" smtClean="0"/>
              <a:t>ija</a:t>
            </a:r>
            <a:endParaRPr lang="en-US" dirty="0" smtClean="0"/>
          </a:p>
          <a:p>
            <a:r>
              <a:rPr lang="sr-Latn-RS" dirty="0" smtClean="0"/>
              <a:t>Spoljna </a:t>
            </a:r>
            <a:r>
              <a:rPr lang="sr-Latn-RS" i="1" dirty="0"/>
              <a:t>(</a:t>
            </a:r>
            <a:r>
              <a:rPr lang="en-US" i="1" dirty="0" smtClean="0"/>
              <a:t>External</a:t>
            </a:r>
            <a:r>
              <a:rPr lang="sr-Latn-RS" i="1" dirty="0"/>
              <a:t>)</a:t>
            </a:r>
            <a:endParaRPr lang="en-US" i="1" dirty="0" smtClean="0"/>
          </a:p>
          <a:p>
            <a:r>
              <a:rPr lang="sr-Latn-RS" dirty="0" smtClean="0"/>
              <a:t>Trajna </a:t>
            </a:r>
            <a:r>
              <a:rPr lang="sr-Latn-RS" i="1" dirty="0" smtClean="0"/>
              <a:t>(</a:t>
            </a:r>
            <a:r>
              <a:rPr lang="en-US" i="1" dirty="0" smtClean="0"/>
              <a:t>Nonvolatile</a:t>
            </a:r>
            <a:r>
              <a:rPr lang="sr-Latn-RS" i="1" dirty="0" smtClean="0"/>
              <a:t>)</a:t>
            </a:r>
            <a:endParaRPr lang="en-US" i="1" dirty="0" smtClean="0"/>
          </a:p>
          <a:p>
            <a:r>
              <a:rPr lang="sr-Latn-RS" dirty="0" smtClean="0"/>
              <a:t>Koristi se za skladištenje </a:t>
            </a:r>
            <a:r>
              <a:rPr lang="en-US" dirty="0" smtClean="0"/>
              <a:t>program</a:t>
            </a:r>
            <a:r>
              <a:rPr lang="sr-Latn-RS" dirty="0" smtClean="0"/>
              <a:t>a</a:t>
            </a:r>
            <a:r>
              <a:rPr lang="en-US" dirty="0" smtClean="0"/>
              <a:t> </a:t>
            </a:r>
            <a:r>
              <a:rPr lang="sr-Latn-RS" dirty="0" smtClean="0"/>
              <a:t>i </a:t>
            </a:r>
            <a:r>
              <a:rPr lang="en-US" dirty="0" err="1" smtClean="0"/>
              <a:t>dat</a:t>
            </a:r>
            <a:r>
              <a:rPr lang="sr-Latn-RS" dirty="0" smtClean="0"/>
              <a:t>oteka sa podacima</a:t>
            </a:r>
          </a:p>
          <a:p>
            <a:pPr lvl="1"/>
            <a:r>
              <a:rPr lang="sr-Latn-RS" b="1" dirty="0" smtClean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Virtuelna memorija</a:t>
            </a:r>
            <a:r>
              <a:rPr lang="sr-Latn-RS" dirty="0" smtClean="0"/>
              <a:t>, kao proširenje </a:t>
            </a:r>
            <a:r>
              <a:rPr lang="sr-Latn-RS" smtClean="0"/>
              <a:t>glavne memorije</a:t>
            </a:r>
          </a:p>
          <a:p>
            <a:pPr lvl="1"/>
            <a:endParaRPr lang="sr-Latn-RS" dirty="0"/>
          </a:p>
          <a:p>
            <a:pPr lvl="1"/>
            <a:r>
              <a:rPr lang="sr-Latn-RS" sz="2000" dirty="0" smtClean="0"/>
              <a:t>Str.30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xmlns="" val="3149416653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Secondary Memory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Auxiliary memory</a:t>
            </a:r>
          </a:p>
          <a:p>
            <a:r>
              <a:rPr lang="en-US" smtClean="0"/>
              <a:t>External</a:t>
            </a:r>
          </a:p>
          <a:p>
            <a:r>
              <a:rPr lang="en-US" smtClean="0"/>
              <a:t>Nonvolatile</a:t>
            </a:r>
          </a:p>
          <a:p>
            <a:r>
              <a:rPr lang="en-US" smtClean="0"/>
              <a:t>Used to store program and data files</a:t>
            </a: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1.6 </a:t>
            </a:r>
            <a:r>
              <a:rPr lang="sr-Latn-RS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</a:t>
            </a:r>
            <a:r>
              <a:rPr lang="en-US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r>
              <a:rPr lang="sr-Latn-RS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š</a:t>
            </a:r>
            <a:r>
              <a:rPr lang="en-US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sr-Latn-RS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</a:t>
            </a:r>
            <a:r>
              <a:rPr lang="en-US" b="1" dirty="0" err="1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emor</a:t>
            </a:r>
            <a:r>
              <a:rPr lang="sr-Latn-RS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ija</a:t>
            </a:r>
            <a:endParaRPr lang="en-US" b="1" dirty="0" smtClean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r-Latn-RS" dirty="0" smtClean="0"/>
              <a:t>Motivacija:</a:t>
            </a:r>
          </a:p>
          <a:p>
            <a:r>
              <a:rPr lang="sr-Latn-RS" dirty="0" smtClean="0"/>
              <a:t>Brzina proc</a:t>
            </a:r>
            <a:r>
              <a:rPr lang="en-US" dirty="0" err="1" smtClean="0"/>
              <a:t>esor</a:t>
            </a:r>
            <a:r>
              <a:rPr lang="sr-Latn-RS" dirty="0" smtClean="0"/>
              <a:t>a je veća od brzine pristupa</a:t>
            </a:r>
            <a:r>
              <a:rPr lang="en-US" dirty="0" smtClean="0"/>
              <a:t> </a:t>
            </a:r>
            <a:r>
              <a:rPr lang="en-US" dirty="0" err="1" smtClean="0"/>
              <a:t>memor</a:t>
            </a:r>
            <a:r>
              <a:rPr lang="sr-Latn-RS" dirty="0" smtClean="0"/>
              <a:t>iji</a:t>
            </a:r>
            <a:endParaRPr lang="en-US" dirty="0" smtClean="0"/>
          </a:p>
          <a:p>
            <a:r>
              <a:rPr lang="sr-Latn-RS" smtClean="0"/>
              <a:t>Koristi </a:t>
            </a:r>
            <a:r>
              <a:rPr lang="sr-Latn-RS" i="1" smtClean="0"/>
              <a:t>(</a:t>
            </a:r>
            <a:r>
              <a:rPr lang="en-US" i="1" dirty="0" smtClean="0"/>
              <a:t>Exploit</a:t>
            </a:r>
            <a:r>
              <a:rPr lang="sr-Latn-RS" i="1" dirty="0" smtClean="0"/>
              <a:t>)</a:t>
            </a:r>
            <a:r>
              <a:rPr lang="en-US" dirty="0" smtClean="0"/>
              <a:t> </a:t>
            </a:r>
            <a:r>
              <a:rPr lang="en-US" dirty="0" err="1" smtClean="0"/>
              <a:t>princip</a:t>
            </a:r>
            <a:r>
              <a:rPr lang="en-US" dirty="0" smtClean="0"/>
              <a:t> lo</a:t>
            </a:r>
            <a:r>
              <a:rPr lang="sr-Latn-RS" dirty="0" smtClean="0"/>
              <a:t>k</a:t>
            </a:r>
            <a:r>
              <a:rPr lang="en-US" dirty="0" smtClean="0"/>
              <a:t>al</a:t>
            </a:r>
            <a:r>
              <a:rPr lang="sr-Latn-RS" dirty="0" smtClean="0"/>
              <a:t>nosti</a:t>
            </a:r>
            <a:r>
              <a:rPr lang="en-US" dirty="0" smtClean="0"/>
              <a:t> </a:t>
            </a:r>
            <a:r>
              <a:rPr lang="sr-Latn-RS" dirty="0" smtClean="0"/>
              <a:t>obezbeđivanjem male, brze memorije</a:t>
            </a:r>
          </a:p>
          <a:p>
            <a:pPr lvl="1"/>
            <a:r>
              <a:rPr lang="sr-Latn-RS" dirty="0" smtClean="0"/>
              <a:t>Smeštene </a:t>
            </a:r>
            <a:r>
              <a:rPr lang="sr-Latn-RS" smtClean="0"/>
              <a:t>između registara procesora </a:t>
            </a:r>
            <a:r>
              <a:rPr lang="sr-Latn-RS" dirty="0" smtClean="0"/>
              <a:t>i </a:t>
            </a:r>
            <a:r>
              <a:rPr lang="sr-Latn-RS" smtClean="0"/>
              <a:t>glavne mem</a:t>
            </a:r>
          </a:p>
          <a:p>
            <a:pPr lvl="2"/>
            <a:r>
              <a:rPr lang="sr-Latn-RS" smtClean="0"/>
              <a:t>sa ciljem poboljšanja performansi.</a:t>
            </a:r>
            <a:endParaRPr lang="sr-Latn-RS" dirty="0" smtClean="0"/>
          </a:p>
          <a:p>
            <a:pPr lvl="1"/>
            <a:endParaRPr lang="sr-Latn-RS" dirty="0"/>
          </a:p>
          <a:p>
            <a:pPr lvl="1"/>
            <a:endParaRPr lang="sr-Latn-RS" dirty="0" smtClean="0"/>
          </a:p>
          <a:p>
            <a:pPr lvl="1"/>
            <a:r>
              <a:rPr lang="sr-Latn-RS" sz="2000" dirty="0" smtClean="0"/>
              <a:t>Str.30/31</a:t>
            </a:r>
            <a:endParaRPr lang="en-US" sz="2000" dirty="0" smtClean="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Cache Memory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Processor speed faster than memory access speed</a:t>
            </a:r>
          </a:p>
          <a:p>
            <a:r>
              <a:rPr lang="en-US" smtClean="0"/>
              <a:t>Exploit the principle of locality with a small fast memory</a:t>
            </a:r>
          </a:p>
        </p:txBody>
      </p:sp>
    </p:spTree>
    <p:extLst>
      <p:ext uri="{BB962C8B-B14F-4D97-AF65-F5344CB8AC3E}">
        <p14:creationId xmlns:p14="http://schemas.microsoft.com/office/powerpoint/2010/main" xmlns="" val="2223894631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Keš i</a:t>
            </a:r>
            <a:r>
              <a:rPr lang="en-US" dirty="0" smtClean="0"/>
              <a:t> </a:t>
            </a:r>
            <a:r>
              <a:rPr lang="sr-Latn-RS" dirty="0" smtClean="0"/>
              <a:t>glavna</a:t>
            </a:r>
            <a:r>
              <a:rPr lang="en-US" dirty="0" smtClean="0"/>
              <a:t> </a:t>
            </a:r>
            <a:r>
              <a:rPr lang="sr-Latn-RS" dirty="0" smtClean="0"/>
              <a:t>m</a:t>
            </a:r>
            <a:r>
              <a:rPr lang="en-US" dirty="0" err="1" smtClean="0"/>
              <a:t>emor</a:t>
            </a:r>
            <a:r>
              <a:rPr lang="sr-Latn-RS" dirty="0" smtClean="0"/>
              <a:t>ija</a:t>
            </a:r>
            <a:endParaRPr lang="en-US" dirty="0" smtClean="0"/>
          </a:p>
        </p:txBody>
      </p:sp>
      <p:pic>
        <p:nvPicPr>
          <p:cNvPr id="45059" name="Content Placeholder 3" descr="Fig01_16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990600" y="1828800"/>
            <a:ext cx="6818894" cy="3500437"/>
          </a:xfrm>
        </p:spPr>
      </p:pic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Cache and Main Memory</a:t>
            </a:r>
          </a:p>
        </p:txBody>
      </p:sp>
      <p:pic>
        <p:nvPicPr>
          <p:cNvPr id="45059" name="Content Placeholder 3" descr="Fig01_16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990600" y="1828800"/>
            <a:ext cx="6818894" cy="3500437"/>
          </a:xfrm>
        </p:spPr>
      </p:pic>
    </p:spTree>
    <p:extLst>
      <p:ext uri="{BB962C8B-B14F-4D97-AF65-F5344CB8AC3E}">
        <p14:creationId xmlns:p14="http://schemas.microsoft.com/office/powerpoint/2010/main" xmlns="" val="2584842435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Principl</a:t>
            </a:r>
            <a:r>
              <a:rPr lang="sr-Latn-RS" dirty="0" smtClean="0"/>
              <a:t>i keš memorije</a:t>
            </a:r>
            <a:endParaRPr lang="en-US" dirty="0" smtClean="0"/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Sadrži k</a:t>
            </a:r>
            <a:r>
              <a:rPr lang="en-US" dirty="0" smtClean="0"/>
              <a:t>op</a:t>
            </a:r>
            <a:r>
              <a:rPr lang="sr-Latn-RS" dirty="0" smtClean="0"/>
              <a:t>iju  dela glavne memorije</a:t>
            </a:r>
          </a:p>
          <a:p>
            <a:r>
              <a:rPr lang="en-US" dirty="0" err="1" smtClean="0"/>
              <a:t>Procesor</a:t>
            </a:r>
            <a:r>
              <a:rPr lang="en-US" dirty="0" smtClean="0"/>
              <a:t> </a:t>
            </a:r>
            <a:r>
              <a:rPr lang="sr-Latn-RS" dirty="0" smtClean="0"/>
              <a:t>najpre proverava keš</a:t>
            </a:r>
            <a:endParaRPr lang="en-US" dirty="0" smtClean="0"/>
          </a:p>
          <a:p>
            <a:r>
              <a:rPr lang="sr-Latn-RS" dirty="0" smtClean="0"/>
              <a:t>Ako željeni podatak nije nađen</a:t>
            </a:r>
            <a:r>
              <a:rPr lang="en-US" dirty="0" smtClean="0"/>
              <a:t>, relevant</a:t>
            </a:r>
            <a:r>
              <a:rPr lang="sr-Latn-RS" dirty="0" smtClean="0"/>
              <a:t>ni</a:t>
            </a:r>
            <a:r>
              <a:rPr lang="en-US" dirty="0" smtClean="0"/>
              <a:t> </a:t>
            </a:r>
            <a:r>
              <a:rPr lang="en-US" dirty="0" err="1" smtClean="0"/>
              <a:t>blok</a:t>
            </a:r>
            <a:r>
              <a:rPr lang="en-US" dirty="0" smtClean="0"/>
              <a:t> </a:t>
            </a:r>
            <a:r>
              <a:rPr lang="sr-Latn-RS" dirty="0" smtClean="0"/>
              <a:t>memorije učitava se u keš</a:t>
            </a:r>
          </a:p>
          <a:p>
            <a:r>
              <a:rPr lang="sr-Latn-RS" dirty="0" smtClean="0"/>
              <a:t>Zbog fenomena </a:t>
            </a:r>
            <a:r>
              <a:rPr lang="en-US" dirty="0" smtClean="0"/>
              <a:t>lo</a:t>
            </a:r>
            <a:r>
              <a:rPr lang="sr-Latn-RS" dirty="0" smtClean="0"/>
              <a:t>k</a:t>
            </a:r>
            <a:r>
              <a:rPr lang="en-US" dirty="0" smtClean="0"/>
              <a:t>al</a:t>
            </a:r>
            <a:r>
              <a:rPr lang="sr-Latn-RS" dirty="0" smtClean="0"/>
              <a:t>nosti adrese,</a:t>
            </a:r>
            <a:r>
              <a:rPr lang="en-US" dirty="0" smtClean="0"/>
              <a:t> </a:t>
            </a:r>
            <a:r>
              <a:rPr lang="sr-Latn-RS" dirty="0" smtClean="0"/>
              <a:t>verovatno je da će mnoge buduće adrese biti u bloku</a:t>
            </a:r>
          </a:p>
          <a:p>
            <a:r>
              <a:rPr lang="sr-Latn-RS" sz="2000" dirty="0" smtClean="0"/>
              <a:t>Str.31</a:t>
            </a:r>
            <a:endParaRPr lang="sr-Latn-RS" sz="2000" dirty="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Stru</a:t>
            </a:r>
            <a:r>
              <a:rPr lang="sr-Latn-RS" dirty="0" smtClean="0"/>
              <a:t>k</a:t>
            </a:r>
            <a:r>
              <a:rPr lang="en-US" dirty="0" err="1" smtClean="0"/>
              <a:t>tur</a:t>
            </a:r>
            <a:r>
              <a:rPr lang="sr-Latn-RS" dirty="0" smtClean="0"/>
              <a:t>a keš</a:t>
            </a:r>
            <a:r>
              <a:rPr lang="en-US" dirty="0" smtClean="0"/>
              <a:t>/</a:t>
            </a:r>
            <a:r>
              <a:rPr lang="sr-Latn-RS" dirty="0" smtClean="0"/>
              <a:t>glavna m</a:t>
            </a:r>
            <a:r>
              <a:rPr lang="en-US" dirty="0" err="1" smtClean="0"/>
              <a:t>emor</a:t>
            </a:r>
            <a:r>
              <a:rPr lang="sr-Latn-RS" dirty="0" smtClean="0"/>
              <a:t>ija</a:t>
            </a:r>
            <a:endParaRPr lang="en-US" dirty="0" smtClean="0"/>
          </a:p>
        </p:txBody>
      </p:sp>
      <p:pic>
        <p:nvPicPr>
          <p:cNvPr id="47107" name="Content Placeholder 3" descr="Fig01_17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419661" y="1219200"/>
            <a:ext cx="6789652" cy="5334000"/>
          </a:xfrm>
        </p:spPr>
      </p:pic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 smtClean="0"/>
              <a:t>Stru</a:t>
            </a:r>
            <a:r>
              <a:rPr lang="sr-Latn-RS" sz="4000" dirty="0" smtClean="0"/>
              <a:t>k</a:t>
            </a:r>
            <a:r>
              <a:rPr lang="en-US" sz="4000" dirty="0" err="1" smtClean="0"/>
              <a:t>tur</a:t>
            </a:r>
            <a:r>
              <a:rPr lang="sr-Latn-RS" sz="4000" dirty="0" smtClean="0"/>
              <a:t>a keš</a:t>
            </a:r>
            <a:r>
              <a:rPr lang="en-US" sz="4000" dirty="0" smtClean="0"/>
              <a:t>/</a:t>
            </a:r>
            <a:r>
              <a:rPr lang="sr-Latn-RS" sz="4000" dirty="0" smtClean="0"/>
              <a:t>glavna m</a:t>
            </a:r>
            <a:r>
              <a:rPr lang="en-US" sz="4000" err="1" smtClean="0"/>
              <a:t>emor</a:t>
            </a:r>
            <a:r>
              <a:rPr lang="sr-Latn-RS" sz="4000" smtClean="0"/>
              <a:t>ija (2)</a:t>
            </a:r>
            <a:endParaRPr lang="en-US" sz="4000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smtClean="0"/>
              <a:t>Pojašnjenje:</a:t>
            </a:r>
          </a:p>
          <a:p>
            <a:pPr lvl="1"/>
            <a:r>
              <a:rPr lang="sr-Latn-RS" smtClean="0"/>
              <a:t>glavna memorija = 2</a:t>
            </a:r>
            <a:r>
              <a:rPr lang="sr-Latn-RS" baseline="30000" smtClean="0"/>
              <a:t>n</a:t>
            </a:r>
            <a:r>
              <a:rPr lang="sr-Latn-RS" smtClean="0"/>
              <a:t> adresibilnih reči;</a:t>
            </a:r>
          </a:p>
          <a:p>
            <a:pPr lvl="1"/>
            <a:r>
              <a:rPr lang="sr-Latn-RS" smtClean="0"/>
              <a:t>svaka reč ima jedinstvenu n-bitnu adresu;</a:t>
            </a:r>
          </a:p>
          <a:p>
            <a:pPr lvl="1"/>
            <a:r>
              <a:rPr lang="sr-Latn-RS" smtClean="0"/>
              <a:t>blokovi su fiksne dužine od K reči,</a:t>
            </a:r>
          </a:p>
          <a:p>
            <a:pPr lvl="2"/>
            <a:r>
              <a:rPr lang="sr-Latn-RS" smtClean="0"/>
              <a:t>broj blokova M=2</a:t>
            </a:r>
            <a:r>
              <a:rPr lang="sr-Latn-RS" baseline="30000" smtClean="0"/>
              <a:t>n</a:t>
            </a:r>
            <a:r>
              <a:rPr lang="sr-Latn-RS" smtClean="0"/>
              <a:t>/K;</a:t>
            </a:r>
          </a:p>
          <a:p>
            <a:pPr lvl="1"/>
            <a:r>
              <a:rPr lang="sr-Latn-RS" smtClean="0"/>
              <a:t>keš memorija se sasoji od</a:t>
            </a:r>
          </a:p>
          <a:p>
            <a:pPr lvl="2"/>
            <a:r>
              <a:rPr lang="sr-Latn-RS" smtClean="0"/>
              <a:t>C slotova koji imaju</a:t>
            </a:r>
          </a:p>
          <a:p>
            <a:pPr lvl="2"/>
            <a:r>
              <a:rPr lang="sr-Latn-RS" smtClean="0"/>
              <a:t>K reči (C</a:t>
            </a:r>
            <a:r>
              <a:rPr lang="en-US" smtClean="0"/>
              <a:t>&lt;&lt;M);</a:t>
            </a:r>
          </a:p>
          <a:p>
            <a:pPr lvl="2"/>
            <a:r>
              <a:rPr lang="sr-Latn-RS" smtClean="0"/>
              <a:t>tag- ukazuje koji je trenutno blok smešten u nju.</a:t>
            </a:r>
            <a:endParaRPr lang="en-US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 smtClean="0"/>
              <a:t>Stru</a:t>
            </a:r>
            <a:r>
              <a:rPr lang="sr-Latn-RS" sz="4000" dirty="0" smtClean="0"/>
              <a:t>k</a:t>
            </a:r>
            <a:r>
              <a:rPr lang="en-US" sz="4000" dirty="0" err="1" smtClean="0"/>
              <a:t>tur</a:t>
            </a:r>
            <a:r>
              <a:rPr lang="sr-Latn-RS" sz="4000" dirty="0" smtClean="0"/>
              <a:t>a keš</a:t>
            </a:r>
            <a:r>
              <a:rPr lang="en-US" sz="4000" dirty="0" smtClean="0"/>
              <a:t>/</a:t>
            </a:r>
            <a:r>
              <a:rPr lang="sr-Latn-RS" sz="4000" dirty="0" smtClean="0"/>
              <a:t>glavna m</a:t>
            </a:r>
            <a:r>
              <a:rPr lang="en-US" sz="4000" err="1" smtClean="0"/>
              <a:t>emor</a:t>
            </a:r>
            <a:r>
              <a:rPr lang="sr-Latn-RS" sz="4000" smtClean="0"/>
              <a:t>ija (3)</a:t>
            </a:r>
            <a:endParaRPr lang="en-US" sz="4000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smtClean="0"/>
              <a:t>Pojašnjenje:</a:t>
            </a:r>
          </a:p>
          <a:p>
            <a:pPr lvl="2"/>
            <a:r>
              <a:rPr lang="sr-Latn-RS" smtClean="0"/>
              <a:t>tag- viši deo bitova adrese:</a:t>
            </a:r>
          </a:p>
          <a:p>
            <a:pPr lvl="2"/>
            <a:r>
              <a:rPr lang="sr-Latn-RS" smtClean="0"/>
              <a:t>Primer: 6-bitna adrea i 2-bitni tag</a:t>
            </a:r>
          </a:p>
          <a:p>
            <a:pPr lvl="2"/>
            <a:r>
              <a:rPr lang="sr-Latn-RS" smtClean="0"/>
              <a:t>tag 01 odnosi se na:</a:t>
            </a:r>
          </a:p>
          <a:p>
            <a:pPr lvl="3"/>
            <a:r>
              <a:rPr lang="sr-Latn-RS" smtClean="0"/>
              <a:t>010000, </a:t>
            </a:r>
          </a:p>
          <a:p>
            <a:pPr lvl="3"/>
            <a:r>
              <a:rPr lang="sr-Latn-RS" smtClean="0"/>
              <a:t>010001, </a:t>
            </a:r>
          </a:p>
          <a:p>
            <a:pPr lvl="3"/>
            <a:r>
              <a:rPr lang="sr-Latn-RS" smtClean="0"/>
              <a:t>010010,</a:t>
            </a:r>
          </a:p>
          <a:p>
            <a:pPr lvl="3"/>
            <a:r>
              <a:rPr lang="sr-Latn-RS" smtClean="0"/>
              <a:t>010011,</a:t>
            </a:r>
          </a:p>
          <a:p>
            <a:pPr lvl="3"/>
            <a:r>
              <a:rPr lang="sr-Latn-RS" smtClean="0"/>
              <a:t>.....</a:t>
            </a:r>
          </a:p>
          <a:p>
            <a:pPr lvl="3"/>
            <a:r>
              <a:rPr lang="sr-Latn-RS" smtClean="0"/>
              <a:t>011111.</a:t>
            </a:r>
            <a:endParaRPr lang="en-US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</a:t>
            </a:r>
            <a:r>
              <a:rPr lang="sr-Latn-RS" dirty="0" smtClean="0"/>
              <a:t>c</a:t>
            </a:r>
            <a:r>
              <a:rPr lang="en-US" dirty="0" smtClean="0"/>
              <a:t>i</a:t>
            </a:r>
            <a:r>
              <a:rPr lang="sr-Latn-RS" dirty="0" smtClean="0"/>
              <a:t>ja čitanja keš memorije</a:t>
            </a:r>
            <a:endParaRPr lang="en-US" dirty="0" smtClean="0"/>
          </a:p>
        </p:txBody>
      </p:sp>
      <p:pic>
        <p:nvPicPr>
          <p:cNvPr id="48131" name="Content Placeholder 3" descr="Fig01_18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362200" y="1189653"/>
            <a:ext cx="4724400" cy="5592147"/>
          </a:xfrm>
        </p:spPr>
      </p:pic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</a:t>
            </a:r>
            <a:r>
              <a:rPr lang="sr-Latn-RS" dirty="0" smtClean="0"/>
              <a:t>c</a:t>
            </a:r>
            <a:r>
              <a:rPr lang="en-US" dirty="0" smtClean="0"/>
              <a:t>i</a:t>
            </a:r>
            <a:r>
              <a:rPr lang="sr-Latn-RS" dirty="0" smtClean="0"/>
              <a:t>ja čitanja keš memorije</a:t>
            </a:r>
            <a:endParaRPr lang="en-US" dirty="0" smtClean="0"/>
          </a:p>
        </p:txBody>
      </p:sp>
      <p:pic>
        <p:nvPicPr>
          <p:cNvPr id="5" name="Content Placeholder 4" descr="Sl-1-18-Operacija citanja keš memorije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366772" y="1346472"/>
            <a:ext cx="4410456" cy="4654296"/>
          </a:xfrm>
        </p:spPr>
      </p:pic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Dizajn </a:t>
            </a:r>
            <a:r>
              <a:rPr lang="sr-Latn-RS" dirty="0"/>
              <a:t>keš memorije</a:t>
            </a:r>
            <a:endParaRPr lang="en-US" dirty="0" smtClean="0"/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/>
            <a:r>
              <a:rPr lang="sr-Latn-RS" smtClean="0"/>
              <a:t>Problemi dizajna keš memorije:</a:t>
            </a:r>
          </a:p>
          <a:p>
            <a:pPr marL="914400" lvl="1" indent="-514350">
              <a:buFont typeface="+mj-lt"/>
              <a:buAutoNum type="arabicPeriod"/>
            </a:pPr>
            <a:r>
              <a:rPr lang="sr-Latn-RS" smtClean="0"/>
              <a:t>Veličina </a:t>
            </a:r>
            <a:r>
              <a:rPr lang="sr-Latn-RS" dirty="0" smtClean="0"/>
              <a:t>keš memorije</a:t>
            </a:r>
            <a:endParaRPr lang="en-US" dirty="0" smtClean="0"/>
          </a:p>
          <a:p>
            <a:pPr marL="914400" lvl="1" indent="-514350">
              <a:buFont typeface="+mj-lt"/>
              <a:buAutoNum type="arabicPeriod"/>
            </a:pPr>
            <a:r>
              <a:rPr lang="sr-Latn-RS" smtClean="0"/>
              <a:t>Veličina </a:t>
            </a:r>
            <a:r>
              <a:rPr lang="sr-Latn-RS" dirty="0" smtClean="0"/>
              <a:t>b</a:t>
            </a:r>
            <a:r>
              <a:rPr lang="en-US" err="1" smtClean="0"/>
              <a:t>lok</a:t>
            </a:r>
            <a:r>
              <a:rPr lang="sr-Latn-RS" smtClean="0"/>
              <a:t>a</a:t>
            </a:r>
          </a:p>
          <a:p>
            <a:pPr marL="914400" lvl="1" indent="-514350">
              <a:buFont typeface="+mj-lt"/>
              <a:buAutoNum type="arabicPeriod"/>
            </a:pPr>
            <a:r>
              <a:rPr lang="sr-Latn-RS" smtClean="0"/>
              <a:t>F</a:t>
            </a:r>
            <a:r>
              <a:rPr lang="en-US" smtClean="0"/>
              <a:t>un</a:t>
            </a:r>
            <a:r>
              <a:rPr lang="sr-Latn-RS" smtClean="0"/>
              <a:t>kc</a:t>
            </a:r>
            <a:r>
              <a:rPr lang="en-US" smtClean="0"/>
              <a:t>i</a:t>
            </a:r>
            <a:r>
              <a:rPr lang="sr-Latn-RS" smtClean="0"/>
              <a:t>ja preslikavanja </a:t>
            </a:r>
            <a:endParaRPr lang="en-US" sz="2400" i="1" smtClean="0"/>
          </a:p>
          <a:p>
            <a:pPr marL="914400" lvl="1" indent="-514350">
              <a:buFont typeface="+mj-lt"/>
              <a:buAutoNum type="arabicPeriod"/>
            </a:pPr>
            <a:r>
              <a:rPr lang="en-US" smtClean="0"/>
              <a:t>Algorit</a:t>
            </a:r>
            <a:r>
              <a:rPr lang="sr-Latn-RS" smtClean="0"/>
              <a:t>a</a:t>
            </a:r>
            <a:r>
              <a:rPr lang="en-US" smtClean="0"/>
              <a:t>m</a:t>
            </a:r>
            <a:r>
              <a:rPr lang="sr-Latn-RS" smtClean="0"/>
              <a:t> za zamenu</a:t>
            </a:r>
          </a:p>
          <a:p>
            <a:pPr marL="914400" lvl="1" indent="-514350">
              <a:buFont typeface="+mj-lt"/>
              <a:buAutoNum type="arabicPeriod"/>
            </a:pPr>
            <a:r>
              <a:rPr lang="sr-Latn-RS" smtClean="0"/>
              <a:t>Politika upisa</a:t>
            </a:r>
            <a:endParaRPr lang="en-US" smtClean="0"/>
          </a:p>
          <a:p>
            <a:endParaRPr lang="en-US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903391249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Dizajn </a:t>
            </a:r>
            <a:r>
              <a:rPr lang="sr-Latn-RS" dirty="0"/>
              <a:t>keš memorije</a:t>
            </a:r>
            <a:endParaRPr lang="en-US" dirty="0" smtClean="0"/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Veličina keš memorije</a:t>
            </a:r>
            <a:endParaRPr lang="en-US" dirty="0" smtClean="0"/>
          </a:p>
          <a:p>
            <a:pPr lvl="1"/>
            <a:r>
              <a:rPr lang="sr-Latn-RS" dirty="0" smtClean="0"/>
              <a:t> I mala keš memorija može imati značajan uticaj </a:t>
            </a:r>
            <a:r>
              <a:rPr lang="en-US" dirty="0" smtClean="0"/>
              <a:t> </a:t>
            </a:r>
            <a:r>
              <a:rPr lang="sr-Latn-RS" dirty="0" smtClean="0"/>
              <a:t>na </a:t>
            </a:r>
            <a:r>
              <a:rPr lang="en-US" dirty="0" err="1" smtClean="0"/>
              <a:t>performan</a:t>
            </a:r>
            <a:r>
              <a:rPr lang="sr-Latn-RS" dirty="0" smtClean="0"/>
              <a:t>s</a:t>
            </a:r>
            <a:r>
              <a:rPr lang="en-US" dirty="0" smtClean="0"/>
              <a:t>e</a:t>
            </a:r>
          </a:p>
          <a:p>
            <a:r>
              <a:rPr lang="sr-Latn-RS" dirty="0" smtClean="0"/>
              <a:t>Veličina b</a:t>
            </a:r>
            <a:r>
              <a:rPr lang="en-US" dirty="0" err="1" smtClean="0"/>
              <a:t>lok</a:t>
            </a:r>
            <a:r>
              <a:rPr lang="sr-Latn-RS" dirty="0" smtClean="0"/>
              <a:t>a</a:t>
            </a:r>
            <a:endParaRPr lang="en-US" dirty="0" smtClean="0"/>
          </a:p>
          <a:p>
            <a:pPr lvl="1"/>
            <a:r>
              <a:rPr lang="sr-Latn-RS" dirty="0" smtClean="0"/>
              <a:t>Jedinica podataka koja se može razmeniti između keša i glavne </a:t>
            </a:r>
            <a:r>
              <a:rPr lang="en-US" dirty="0" smtClean="0"/>
              <a:t>memo</a:t>
            </a:r>
            <a:r>
              <a:rPr lang="sr-Latn-RS" dirty="0" smtClean="0"/>
              <a:t>rije</a:t>
            </a:r>
            <a:endParaRPr lang="en-US" dirty="0" smtClean="0"/>
          </a:p>
          <a:p>
            <a:pPr lvl="1"/>
            <a:r>
              <a:rPr lang="sr-Latn-RS" dirty="0" smtClean="0">
                <a:solidFill>
                  <a:schemeClr val="tx2">
                    <a:lumMod val="50000"/>
                  </a:schemeClr>
                </a:solidFill>
              </a:rPr>
              <a:t>Povećanje veličine bloka smanjuje  verovatnoću pogotka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sr-Latn-RS" dirty="0" smtClean="0">
                <a:solidFill>
                  <a:schemeClr val="tx2">
                    <a:lumMod val="50000"/>
                  </a:schemeClr>
                </a:solidFill>
              </a:rPr>
              <a:t>dok verovatnoća korišćenja novih pribavljenih podataka postaje manja od verovatnoće 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sr-Latn-RS" dirty="0" smtClean="0">
                <a:solidFill>
                  <a:schemeClr val="tx2">
                    <a:lumMod val="50000"/>
                  </a:schemeClr>
                </a:solidFill>
              </a:rPr>
              <a:t>ponovnog korišćenja podataka koji se moraju premestiti iz keša</a:t>
            </a:r>
            <a:endParaRPr lang="en-US" dirty="0" smtClean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03391249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Principles</a:t>
            </a:r>
            <a:endParaRPr lang="en-US" dirty="0" smtClean="0"/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Veličina keš memorije</a:t>
            </a:r>
            <a:endParaRPr lang="en-US" dirty="0" smtClean="0"/>
          </a:p>
          <a:p>
            <a:pPr lvl="1"/>
            <a:r>
              <a:rPr lang="en-US" dirty="0" smtClean="0"/>
              <a:t>Even small caches have significant impact on performance</a:t>
            </a:r>
          </a:p>
          <a:p>
            <a:r>
              <a:rPr lang="en-US" dirty="0" smtClean="0"/>
              <a:t>Block size</a:t>
            </a:r>
          </a:p>
          <a:p>
            <a:pPr lvl="1"/>
            <a:r>
              <a:rPr lang="en-US" dirty="0" smtClean="0"/>
              <a:t>The unit of data exchanged between cache and main memory</a:t>
            </a:r>
          </a:p>
          <a:p>
            <a:pPr lvl="1"/>
            <a:r>
              <a:rPr lang="en-US" dirty="0" smtClean="0"/>
              <a:t>Larger block size yields more hits until probability of using newly fetched data becomes less than the probability of reusing data that have to be moved out of cache</a:t>
            </a: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Dizajn keš memorije</a:t>
            </a:r>
            <a:endParaRPr lang="en-US" dirty="0" smtClean="0"/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F</a:t>
            </a:r>
            <a:r>
              <a:rPr lang="en-US" dirty="0" smtClean="0"/>
              <a:t>un</a:t>
            </a:r>
            <a:r>
              <a:rPr lang="sr-Latn-RS" dirty="0" smtClean="0"/>
              <a:t>kc</a:t>
            </a:r>
            <a:r>
              <a:rPr lang="en-US" dirty="0" smtClean="0"/>
              <a:t>i</a:t>
            </a:r>
            <a:r>
              <a:rPr lang="sr-Latn-RS" dirty="0" smtClean="0"/>
              <a:t>ja preslikavanja </a:t>
            </a:r>
            <a:r>
              <a:rPr lang="sr-Latn-RS" sz="2800" i="1" dirty="0" smtClean="0"/>
              <a:t>(</a:t>
            </a:r>
            <a:r>
              <a:rPr lang="en-US" sz="2800" i="1" dirty="0" smtClean="0"/>
              <a:t>Mapping function</a:t>
            </a:r>
            <a:r>
              <a:rPr lang="sr-Latn-RS" sz="2800" i="1" dirty="0" smtClean="0"/>
              <a:t>)</a:t>
            </a:r>
            <a:endParaRPr lang="en-US" sz="2800" i="1" dirty="0" smtClean="0"/>
          </a:p>
          <a:p>
            <a:pPr lvl="1"/>
            <a:r>
              <a:rPr lang="sr-Latn-RS" dirty="0" smtClean="0"/>
              <a:t>Utvrđuje koju će lokaciju u keš memoriji zauzeti blok</a:t>
            </a:r>
            <a:endParaRPr lang="en-US" dirty="0" smtClean="0"/>
          </a:p>
          <a:p>
            <a:r>
              <a:rPr lang="en-US" dirty="0" err="1" smtClean="0"/>
              <a:t>Algorit</a:t>
            </a:r>
            <a:r>
              <a:rPr lang="sr-Latn-RS" dirty="0" smtClean="0"/>
              <a:t>a</a:t>
            </a:r>
            <a:r>
              <a:rPr lang="en-US" dirty="0" smtClean="0"/>
              <a:t>m</a:t>
            </a:r>
            <a:r>
              <a:rPr lang="sr-Latn-RS" dirty="0" smtClean="0"/>
              <a:t> za zamenu</a:t>
            </a:r>
            <a:endParaRPr lang="en-US" dirty="0" smtClean="0"/>
          </a:p>
          <a:p>
            <a:pPr lvl="1"/>
            <a:r>
              <a:rPr lang="sr-Latn-RS" dirty="0" smtClean="0"/>
              <a:t>Bira koji će </a:t>
            </a:r>
            <a:r>
              <a:rPr lang="en-US" dirty="0" err="1" smtClean="0"/>
              <a:t>blok</a:t>
            </a:r>
            <a:r>
              <a:rPr lang="en-US" dirty="0" smtClean="0"/>
              <a:t> </a:t>
            </a:r>
            <a:r>
              <a:rPr lang="sr-Latn-RS" dirty="0" smtClean="0"/>
              <a:t>biti zamenjen</a:t>
            </a:r>
            <a:endParaRPr lang="en-US" dirty="0" smtClean="0"/>
          </a:p>
          <a:p>
            <a:pPr lvl="1"/>
            <a:r>
              <a:rPr lang="sr-Latn-RS" dirty="0"/>
              <a:t>N</a:t>
            </a:r>
            <a:r>
              <a:rPr lang="sr-Latn-RS" dirty="0" smtClean="0"/>
              <a:t>ajmanji skoro korišćeni </a:t>
            </a:r>
            <a:r>
              <a:rPr lang="en-US" dirty="0" smtClean="0"/>
              <a:t>(</a:t>
            </a:r>
            <a:r>
              <a:rPr lang="en-US" dirty="0" err="1" smtClean="0"/>
              <a:t>LRU</a:t>
            </a:r>
            <a:r>
              <a:rPr lang="sr-Latn-RS" dirty="0" smtClean="0"/>
              <a:t>-</a:t>
            </a:r>
            <a:r>
              <a:rPr lang="en-US" dirty="0"/>
              <a:t> </a:t>
            </a:r>
            <a:r>
              <a:rPr lang="en-US" sz="2400" i="1" dirty="0"/>
              <a:t>Least-recently-used</a:t>
            </a:r>
            <a:r>
              <a:rPr lang="en-US" dirty="0"/>
              <a:t>) </a:t>
            </a:r>
            <a:r>
              <a:rPr lang="en-US" dirty="0" err="1" smtClean="0"/>
              <a:t>algorit</a:t>
            </a:r>
            <a:r>
              <a:rPr lang="sr-Latn-RS" dirty="0" smtClean="0"/>
              <a:t>a</a:t>
            </a:r>
            <a:r>
              <a:rPr lang="en-US" dirty="0" smtClean="0"/>
              <a:t>m</a:t>
            </a:r>
            <a:endParaRPr lang="sr-Latn-RS" dirty="0" smtClean="0"/>
          </a:p>
          <a:p>
            <a:pPr lvl="1"/>
            <a:endParaRPr lang="sr-Latn-RS" dirty="0"/>
          </a:p>
          <a:p>
            <a:pPr lvl="1"/>
            <a:endParaRPr lang="sr-Latn-RS" dirty="0" smtClean="0"/>
          </a:p>
          <a:p>
            <a:pPr lvl="1"/>
            <a:r>
              <a:rPr lang="sr-Latn-RS" sz="2000" dirty="0" smtClean="0"/>
              <a:t>Str.33/34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xmlns="" val="3976050023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Cache Principles</a:t>
            </a:r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Mapping function</a:t>
            </a:r>
          </a:p>
          <a:p>
            <a:pPr lvl="1"/>
            <a:r>
              <a:rPr lang="en-US" dirty="0" smtClean="0"/>
              <a:t>Determines which cache location the block will occupy</a:t>
            </a:r>
          </a:p>
          <a:p>
            <a:r>
              <a:rPr lang="en-US" dirty="0" smtClean="0"/>
              <a:t>Replacement algorithm</a:t>
            </a:r>
          </a:p>
          <a:p>
            <a:pPr lvl="1"/>
            <a:r>
              <a:rPr lang="en-US" dirty="0" smtClean="0"/>
              <a:t>Chooses which block to replace</a:t>
            </a:r>
          </a:p>
          <a:p>
            <a:pPr lvl="1"/>
            <a:r>
              <a:rPr lang="en-US" dirty="0" smtClean="0"/>
              <a:t>Least-recently-used (</a:t>
            </a:r>
            <a:r>
              <a:rPr lang="en-US" dirty="0" err="1" smtClean="0"/>
              <a:t>LRU</a:t>
            </a:r>
            <a:r>
              <a:rPr lang="en-US" dirty="0" smtClean="0"/>
              <a:t>) algorithm</a:t>
            </a: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Dizajn keš memorije</a:t>
            </a:r>
            <a:endParaRPr lang="en-US" dirty="0" smtClean="0"/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Politika upisa</a:t>
            </a:r>
            <a:endParaRPr lang="en-US" dirty="0" smtClean="0"/>
          </a:p>
          <a:p>
            <a:pPr lvl="1"/>
            <a:r>
              <a:rPr lang="en-US" dirty="0" smtClean="0"/>
              <a:t>Di</a:t>
            </a:r>
            <a:r>
              <a:rPr lang="sr-Latn-RS" dirty="0" smtClean="0"/>
              <a:t>k</a:t>
            </a:r>
            <a:r>
              <a:rPr lang="en-US" dirty="0" smtClean="0"/>
              <a:t>t</a:t>
            </a:r>
            <a:r>
              <a:rPr lang="sr-Latn-RS" dirty="0" smtClean="0"/>
              <a:t>ira kada će se odigrati operacija upisa  u </a:t>
            </a:r>
            <a:r>
              <a:rPr lang="en-US" err="1" smtClean="0"/>
              <a:t>memor</a:t>
            </a:r>
            <a:r>
              <a:rPr lang="sr-Latn-RS" smtClean="0"/>
              <a:t>iju:</a:t>
            </a:r>
            <a:endParaRPr lang="en-US" dirty="0" smtClean="0"/>
          </a:p>
          <a:p>
            <a:pPr marL="1371600" lvl="2" indent="-514350">
              <a:buFont typeface="+mj-lt"/>
              <a:buAutoNum type="arabicPeriod"/>
            </a:pPr>
            <a:r>
              <a:rPr lang="sr-Latn-RS" dirty="0" smtClean="0"/>
              <a:t>Upis se može pojaviti pri svakom </a:t>
            </a:r>
            <a:r>
              <a:rPr lang="sr-Latn-RS" b="1" dirty="0" smtClean="0"/>
              <a:t>ažuriranju bloka</a:t>
            </a:r>
            <a:endParaRPr lang="en-US" b="1" dirty="0" smtClean="0"/>
          </a:p>
          <a:p>
            <a:pPr marL="1371600" lvl="2" indent="-514350">
              <a:buFont typeface="+mj-lt"/>
              <a:buAutoNum type="arabicPeriod"/>
            </a:pPr>
            <a:r>
              <a:rPr lang="sr-Latn-RS" dirty="0"/>
              <a:t>Upis se </a:t>
            </a:r>
            <a:r>
              <a:rPr lang="sr-Latn-RS" dirty="0" smtClean="0"/>
              <a:t>javlja smo pri </a:t>
            </a:r>
            <a:r>
              <a:rPr lang="sr-Latn-RS" b="1" dirty="0" smtClean="0"/>
              <a:t>zameni bloka</a:t>
            </a:r>
            <a:endParaRPr lang="en-US" b="1" dirty="0" smtClean="0"/>
          </a:p>
          <a:p>
            <a:pPr lvl="3"/>
            <a:r>
              <a:rPr lang="en-US" b="1" dirty="0" err="1" smtClean="0"/>
              <a:t>Minimiz</a:t>
            </a:r>
            <a:r>
              <a:rPr lang="sr-Latn-RS" b="1" dirty="0" smtClean="0"/>
              <a:t>uju </a:t>
            </a:r>
            <a:r>
              <a:rPr lang="sr-Latn-RS" dirty="0" smtClean="0"/>
              <a:t>se operacije upisa</a:t>
            </a:r>
            <a:endParaRPr lang="en-US" dirty="0" smtClean="0"/>
          </a:p>
          <a:p>
            <a:pPr lvl="3"/>
            <a:r>
              <a:rPr lang="sr-Latn-RS" dirty="0" smtClean="0"/>
              <a:t>Glavna morija se ostavlja u </a:t>
            </a:r>
            <a:r>
              <a:rPr lang="sr-Latn-RS" b="1" smtClean="0"/>
              <a:t>zastarelom</a:t>
            </a:r>
            <a:r>
              <a:rPr lang="sr-Latn-RS" smtClean="0"/>
              <a:t> stanju</a:t>
            </a:r>
          </a:p>
          <a:p>
            <a:pPr marL="2286000" lvl="4" indent="-457200">
              <a:buFont typeface="+mj-lt"/>
              <a:buAutoNum type="arabicPeriod"/>
            </a:pPr>
            <a:r>
              <a:rPr lang="sr-Latn-RS" smtClean="0"/>
              <a:t>može remetiti višeprocesorske operacije i</a:t>
            </a:r>
          </a:p>
          <a:p>
            <a:pPr marL="2286000" lvl="4" indent="-457200">
              <a:buFont typeface="+mj-lt"/>
              <a:buAutoNum type="arabicPeriod"/>
            </a:pPr>
            <a:r>
              <a:rPr lang="sr-Latn-RS" smtClean="0"/>
              <a:t>direktan pristup memoriji preko hardverskih U/I modula</a:t>
            </a:r>
            <a:endParaRPr lang="sr-Latn-RS" dirty="0" smtClean="0"/>
          </a:p>
          <a:p>
            <a:pPr marL="571500" indent="-457200"/>
            <a:r>
              <a:rPr lang="sr-Latn-RS" sz="2000" smtClean="0"/>
              <a:t>Str.34</a:t>
            </a:r>
            <a:endParaRPr lang="en-US" sz="2000" dirty="0" smtClean="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Cache Principles</a:t>
            </a:r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Write policy</a:t>
            </a:r>
          </a:p>
          <a:p>
            <a:pPr lvl="1"/>
            <a:r>
              <a:rPr lang="en-US" smtClean="0"/>
              <a:t>Dictates when the memory write operation takes place</a:t>
            </a:r>
          </a:p>
          <a:p>
            <a:pPr lvl="1"/>
            <a:r>
              <a:rPr lang="en-US" smtClean="0"/>
              <a:t>Can occur every time the block is updated</a:t>
            </a:r>
          </a:p>
          <a:p>
            <a:pPr lvl="1"/>
            <a:r>
              <a:rPr lang="en-US" smtClean="0"/>
              <a:t>Can occur when the block is replaced</a:t>
            </a:r>
          </a:p>
          <a:p>
            <a:pPr lvl="2"/>
            <a:r>
              <a:rPr lang="en-US" smtClean="0"/>
              <a:t>Minimize write operations</a:t>
            </a:r>
          </a:p>
          <a:p>
            <a:pPr lvl="2"/>
            <a:r>
              <a:rPr lang="en-US" smtClean="0"/>
              <a:t>Leave main memory in an obsolete state</a:t>
            </a:r>
          </a:p>
        </p:txBody>
      </p:sp>
    </p:spTree>
    <p:extLst>
      <p:ext uri="{BB962C8B-B14F-4D97-AF65-F5344CB8AC3E}">
        <p14:creationId xmlns:p14="http://schemas.microsoft.com/office/powerpoint/2010/main" xmlns="" val="1978382639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>
          <a:xfrm>
            <a:off x="1447800" y="274638"/>
            <a:ext cx="7391400" cy="1143000"/>
          </a:xfrm>
        </p:spPr>
        <p:txBody>
          <a:bodyPr/>
          <a:lstStyle/>
          <a:p>
            <a:r>
              <a:rPr lang="sr-Latn-RS" dirty="0" smtClean="0"/>
              <a:t>Ulazno/Izlazne</a:t>
            </a:r>
            <a:br>
              <a:rPr lang="sr-Latn-RS" dirty="0" smtClean="0"/>
            </a:br>
            <a:r>
              <a:rPr lang="sr-Latn-RS" dirty="0" smtClean="0"/>
              <a:t>tehnike komuniciranja</a:t>
            </a:r>
            <a:endParaRPr lang="en-US" dirty="0" smtClean="0"/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953000"/>
          </a:xfrm>
        </p:spPr>
        <p:txBody>
          <a:bodyPr/>
          <a:lstStyle/>
          <a:p>
            <a:r>
              <a:rPr lang="sr-Latn-RS" dirty="0" smtClean="0"/>
              <a:t>Postoje TRI vrste mogućih tehnika za U/I operacije:</a:t>
            </a:r>
          </a:p>
          <a:p>
            <a:pPr marL="914400" lvl="1" indent="-514350">
              <a:buFont typeface="+mj-lt"/>
              <a:buAutoNum type="arabicPeriod"/>
            </a:pPr>
            <a:r>
              <a:rPr lang="sr-Latn-RS" sz="3200" dirty="0" smtClean="0"/>
              <a:t>Programirani U/I;</a:t>
            </a:r>
          </a:p>
          <a:p>
            <a:pPr marL="914400" lvl="1" indent="-514350">
              <a:buFont typeface="+mj-lt"/>
              <a:buAutoNum type="arabicPeriod"/>
            </a:pPr>
            <a:r>
              <a:rPr lang="sr-Latn-RS" sz="3200" dirty="0" smtClean="0"/>
              <a:t>U/I upravljan prekidima;</a:t>
            </a:r>
          </a:p>
          <a:p>
            <a:pPr marL="914400" lvl="1" indent="-514350">
              <a:buFont typeface="+mj-lt"/>
              <a:buAutoNum type="arabicPeriod"/>
            </a:pPr>
            <a:r>
              <a:rPr lang="sr-Latn-RS" sz="3200" dirty="0" smtClean="0"/>
              <a:t>Direktan pristup memoriji.</a:t>
            </a:r>
          </a:p>
          <a:p>
            <a:pPr marL="914400" lvl="1" indent="-514350">
              <a:buFont typeface="+mj-lt"/>
              <a:buAutoNum type="arabicPeriod"/>
            </a:pPr>
            <a:endParaRPr lang="sr-Latn-RS" sz="3200" dirty="0"/>
          </a:p>
          <a:p>
            <a:pPr marL="914400" lvl="1" indent="-514350">
              <a:buFont typeface="+mj-lt"/>
              <a:buAutoNum type="arabicPeriod"/>
            </a:pPr>
            <a:endParaRPr lang="sr-Latn-RS" sz="3200" dirty="0" smtClean="0"/>
          </a:p>
          <a:p>
            <a:r>
              <a:rPr lang="sr-Latn-RS" sz="2000" dirty="0" smtClean="0"/>
              <a:t>Str.34</a:t>
            </a:r>
            <a:endParaRPr lang="en-US" sz="2000" dirty="0" smtClean="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943600" cy="1143000"/>
          </a:xfrm>
        </p:spPr>
        <p:txBody>
          <a:bodyPr/>
          <a:lstStyle/>
          <a:p>
            <a:r>
              <a:rPr lang="en-US" dirty="0" smtClean="0"/>
              <a:t>Program</a:t>
            </a:r>
            <a:r>
              <a:rPr lang="sr-Latn-RS" dirty="0" smtClean="0"/>
              <a:t>irani</a:t>
            </a:r>
            <a:r>
              <a:rPr lang="en-US" dirty="0" smtClean="0"/>
              <a:t> </a:t>
            </a:r>
            <a:r>
              <a:rPr lang="sr-Latn-RS" dirty="0" smtClean="0"/>
              <a:t>U</a:t>
            </a:r>
            <a:r>
              <a:rPr lang="en-US" dirty="0" smtClean="0"/>
              <a:t>/</a:t>
            </a:r>
            <a:r>
              <a:rPr lang="sr-Latn-RS" dirty="0" smtClean="0"/>
              <a:t>I</a:t>
            </a:r>
            <a:endParaRPr lang="en-US" dirty="0" smtClean="0"/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943600" cy="4953000"/>
          </a:xfrm>
        </p:spPr>
        <p:txBody>
          <a:bodyPr/>
          <a:lstStyle/>
          <a:p>
            <a:r>
              <a:rPr lang="sr-Latn-RS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</a:t>
            </a:r>
            <a:r>
              <a:rPr lang="en-US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sr-Latn-RS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</a:t>
            </a:r>
            <a:r>
              <a:rPr lang="sr-Latn-RS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</a:t>
            </a:r>
            <a:r>
              <a:rPr lang="en-US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sr-Latn-RS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izvršava</a:t>
            </a:r>
            <a:r>
              <a:rPr lang="sr-Latn-RS" dirty="0" smtClean="0">
                <a:solidFill>
                  <a:srgbClr val="00B050"/>
                </a:solidFill>
              </a:rPr>
              <a:t> </a:t>
            </a:r>
            <a:r>
              <a:rPr lang="sr-Latn-RS" dirty="0" smtClean="0"/>
              <a:t>zahtevanu akciju </a:t>
            </a:r>
            <a:r>
              <a:rPr lang="sr-Latn-RS" dirty="0" smtClean="0">
                <a:solidFill>
                  <a:srgbClr val="FF0000"/>
                </a:solidFill>
              </a:rPr>
              <a:t>a</a:t>
            </a:r>
            <a:r>
              <a:rPr lang="sr-Latn-RS" dirty="0" smtClean="0"/>
              <a:t> </a:t>
            </a:r>
            <a:r>
              <a:rPr lang="sr-Latn-R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</a:t>
            </a:r>
            <a:r>
              <a:rPr lang="sr-Latn-R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procesor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sr-Latn-RS" dirty="0" smtClean="0"/>
              <a:t>Postavlja odgovarajuće bitove u U/I statusnom registru </a:t>
            </a:r>
          </a:p>
          <a:p>
            <a:r>
              <a:rPr lang="sr-Latn-RS" dirty="0" smtClean="0"/>
              <a:t>Ne generiše prekid</a:t>
            </a:r>
            <a:endParaRPr lang="en-US" dirty="0" smtClean="0"/>
          </a:p>
          <a:p>
            <a:r>
              <a:rPr lang="en-US" dirty="0" err="1" smtClean="0"/>
              <a:t>Procesor</a:t>
            </a:r>
            <a:r>
              <a:rPr lang="en-US" dirty="0" smtClean="0"/>
              <a:t> </a:t>
            </a:r>
            <a:r>
              <a:rPr lang="sr-Latn-R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povremeno</a:t>
            </a:r>
            <a:r>
              <a:rPr lang="sr-Latn-RS" dirty="0" smtClean="0"/>
              <a:t> proverava ststus</a:t>
            </a:r>
            <a:r>
              <a:rPr lang="en-US" dirty="0" smtClean="0"/>
              <a:t> </a:t>
            </a:r>
            <a:r>
              <a:rPr lang="sr-Latn-RS" dirty="0" smtClean="0"/>
              <a:t>U/I modula dok </a:t>
            </a:r>
            <a:r>
              <a:rPr lang="en-US" dirty="0" err="1" smtClean="0"/>
              <a:t>operati</a:t>
            </a:r>
            <a:r>
              <a:rPr lang="sr-Latn-RS" dirty="0" smtClean="0"/>
              <a:t>ja ne bude završena</a:t>
            </a:r>
          </a:p>
          <a:p>
            <a:r>
              <a:rPr lang="sr-Latn-RS" sz="2000" dirty="0" smtClean="0"/>
              <a:t>Str.34</a:t>
            </a:r>
            <a:endParaRPr lang="en-US" sz="2000" dirty="0" smtClean="0"/>
          </a:p>
        </p:txBody>
      </p:sp>
      <p:pic>
        <p:nvPicPr>
          <p:cNvPr id="52228" name="Picture 3" descr="Fig01_19a.gi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13475" y="0"/>
            <a:ext cx="2930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870727677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943600" cy="1143000"/>
          </a:xfrm>
        </p:spPr>
        <p:txBody>
          <a:bodyPr/>
          <a:lstStyle/>
          <a:p>
            <a:r>
              <a:rPr lang="en-US" dirty="0" smtClean="0"/>
              <a:t>Programmed I/O</a:t>
            </a:r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943600" cy="4953000"/>
          </a:xfrm>
        </p:spPr>
        <p:txBody>
          <a:bodyPr/>
          <a:lstStyle/>
          <a:p>
            <a:r>
              <a:rPr lang="en-US" dirty="0" smtClean="0"/>
              <a:t>I/O module performs the action, not the processor</a:t>
            </a:r>
          </a:p>
          <a:p>
            <a:r>
              <a:rPr lang="en-US" dirty="0" smtClean="0"/>
              <a:t>Sets the appropriate bits in the I/O status register</a:t>
            </a:r>
          </a:p>
          <a:p>
            <a:r>
              <a:rPr lang="en-US" dirty="0" smtClean="0"/>
              <a:t>No interrupts occur</a:t>
            </a:r>
          </a:p>
          <a:p>
            <a:r>
              <a:rPr lang="en-US" dirty="0" smtClean="0"/>
              <a:t>Processor checks status until operation is complete</a:t>
            </a:r>
          </a:p>
        </p:txBody>
      </p:sp>
      <p:pic>
        <p:nvPicPr>
          <p:cNvPr id="52228" name="Picture 3" descr="Fig01_19a.gi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13475" y="0"/>
            <a:ext cx="2930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694453165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943600" cy="1143000"/>
          </a:xfrm>
        </p:spPr>
        <p:txBody>
          <a:bodyPr/>
          <a:lstStyle/>
          <a:p>
            <a:r>
              <a:rPr lang="en-US" dirty="0" smtClean="0"/>
              <a:t>Program</a:t>
            </a:r>
            <a:r>
              <a:rPr lang="sr-Latn-RS" dirty="0" smtClean="0"/>
              <a:t>irani</a:t>
            </a:r>
            <a:r>
              <a:rPr lang="en-US" dirty="0" smtClean="0"/>
              <a:t> </a:t>
            </a:r>
            <a:r>
              <a:rPr lang="sr-Latn-RS" dirty="0" smtClean="0"/>
              <a:t>U</a:t>
            </a:r>
            <a:r>
              <a:rPr lang="en-US" dirty="0" smtClean="0"/>
              <a:t>/</a:t>
            </a:r>
            <a:r>
              <a:rPr lang="sr-Latn-RS" dirty="0" smtClean="0"/>
              <a:t>I </a:t>
            </a:r>
            <a:r>
              <a:rPr lang="sr-Latn-RS" sz="2000" dirty="0" smtClean="0"/>
              <a:t>(2)</a:t>
            </a:r>
            <a:endParaRPr lang="en-US" dirty="0" smtClean="0"/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943600" cy="4953000"/>
          </a:xfrm>
        </p:spPr>
        <p:txBody>
          <a:bodyPr/>
          <a:lstStyle/>
          <a:p>
            <a:r>
              <a:rPr lang="sr-Latn-RS" dirty="0" smtClean="0"/>
              <a:t>Procesor je odgovoran za upis/čitanje podataka iz glavne memorije</a:t>
            </a:r>
          </a:p>
          <a:p>
            <a:r>
              <a:rPr lang="sr-Latn-RS" dirty="0" smtClean="0"/>
              <a:t>Skup potrebnih naredbi: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sz="2800" dirty="0" smtClean="0"/>
              <a:t>Upravljačke</a:t>
            </a:r>
            <a:r>
              <a:rPr lang="sr-Latn-RS" dirty="0" smtClean="0"/>
              <a:t>-</a:t>
            </a:r>
            <a:r>
              <a:rPr lang="sr-Latn-RS" sz="2400" dirty="0" smtClean="0"/>
              <a:t>aktiviranje U/I uređaja</a:t>
            </a:r>
            <a:r>
              <a:rPr lang="sr-Latn-RS" dirty="0" smtClean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sz="2800" dirty="0" smtClean="0"/>
              <a:t>Statusne-</a:t>
            </a:r>
            <a:r>
              <a:rPr lang="sr-Latn-RS" sz="2400" dirty="0" smtClean="0"/>
              <a:t>testiranje uslova</a:t>
            </a:r>
            <a:r>
              <a:rPr lang="sr-Latn-RS" sz="2800" dirty="0" smtClean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sz="2800" dirty="0" smtClean="0"/>
              <a:t>Za prenos-</a:t>
            </a:r>
            <a:r>
              <a:rPr lang="sr-Latn-RS" sz="2400" dirty="0" smtClean="0"/>
              <a:t>registri procesora-eksterni uređaj</a:t>
            </a:r>
            <a:r>
              <a:rPr lang="sr-Latn-RS" sz="2800" dirty="0" smtClean="0"/>
              <a:t>.</a:t>
            </a:r>
          </a:p>
          <a:p>
            <a:r>
              <a:rPr lang="sr-Latn-RS" sz="2000" dirty="0" smtClean="0"/>
              <a:t>Str.34/35</a:t>
            </a:r>
            <a:endParaRPr lang="en-US" sz="2000" dirty="0" smtClean="0"/>
          </a:p>
        </p:txBody>
      </p:sp>
      <p:pic>
        <p:nvPicPr>
          <p:cNvPr id="52228" name="Picture 3" descr="Fig01_19a.gi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13475" y="0"/>
            <a:ext cx="2930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390092409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Problemi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r-Latn-RS" dirty="0" smtClean="0"/>
              <a:t>Programiranog U/I </a:t>
            </a:r>
          </a:p>
          <a:p>
            <a:pPr lvl="1"/>
            <a:r>
              <a:rPr lang="sr-Latn-RS" dirty="0" smtClean="0"/>
              <a:t>Procesor mora dugo </a:t>
            </a:r>
            <a:r>
              <a:rPr lang="sr-Latn-R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 čeka </a:t>
            </a:r>
            <a:r>
              <a:rPr lang="sr-Latn-RS" dirty="0" smtClean="0"/>
              <a:t>da U/I bude spreman za prijem/predaju podataka</a:t>
            </a:r>
          </a:p>
          <a:p>
            <a:r>
              <a:rPr lang="sr-Latn-RS" dirty="0" smtClean="0"/>
              <a:t>Drugo rešenje:</a:t>
            </a:r>
          </a:p>
          <a:p>
            <a:pPr marL="971550" lvl="1" indent="-514350">
              <a:buFont typeface="+mj-lt"/>
              <a:buAutoNum type="arabicPeriod"/>
            </a:pPr>
            <a:r>
              <a:rPr lang="sr-Latn-RS" dirty="0" smtClean="0"/>
              <a:t>Procesor izda U/I naredbu modulu;</a:t>
            </a:r>
          </a:p>
          <a:p>
            <a:pPr marL="971550" lvl="1" indent="-514350">
              <a:buFont typeface="+mj-lt"/>
              <a:buAutoNum type="arabicPeriod"/>
            </a:pPr>
            <a:r>
              <a:rPr lang="sr-Latn-RS" dirty="0" smtClean="0"/>
              <a:t>Nastavlja sa drugim korisnim radom</a:t>
            </a:r>
          </a:p>
          <a:p>
            <a:pPr marL="971550" lvl="1" indent="-514350">
              <a:buFont typeface="+mj-lt"/>
              <a:buAutoNum type="arabicPeriod"/>
            </a:pPr>
            <a:r>
              <a:rPr lang="sr-Latn-RS" dirty="0" smtClean="0"/>
              <a:t>U/I modul će prekinuti procesor kada je spreman za razmenu podataka</a:t>
            </a:r>
          </a:p>
          <a:p>
            <a:pPr marL="571500" indent="-514350"/>
            <a:r>
              <a:rPr lang="sr-Latn-RS" sz="2000" dirty="0" smtClean="0"/>
              <a:t>Str.36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1298125405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486400" cy="1143000"/>
          </a:xfrm>
        </p:spPr>
        <p:txBody>
          <a:bodyPr/>
          <a:lstStyle/>
          <a:p>
            <a:r>
              <a:rPr lang="sr-Latn-RS" dirty="0" smtClean="0"/>
              <a:t>U/I upravljan prekidima</a:t>
            </a:r>
            <a:endParaRPr lang="en-US" dirty="0" smtClean="0"/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57800" cy="4953000"/>
          </a:xfrm>
        </p:spPr>
        <p:txBody>
          <a:bodyPr/>
          <a:lstStyle/>
          <a:p>
            <a:r>
              <a:rPr lang="en-US" sz="2800" dirty="0" err="1" smtClean="0"/>
              <a:t>Procesor</a:t>
            </a:r>
            <a:r>
              <a:rPr lang="en-US" sz="2800" dirty="0" smtClean="0"/>
              <a:t> </a:t>
            </a:r>
            <a:r>
              <a:rPr lang="sr-Latn-RS" sz="2800" dirty="0" smtClean="0"/>
              <a:t>je prekinut kada je U/I </a:t>
            </a:r>
            <a:r>
              <a:rPr lang="en-US" sz="2800" dirty="0" err="1" smtClean="0"/>
              <a:t>modul</a:t>
            </a:r>
            <a:r>
              <a:rPr lang="sr-Latn-RS" sz="2800" dirty="0" smtClean="0"/>
              <a:t> spreman za razmenu podataka</a:t>
            </a:r>
            <a:endParaRPr lang="en-US" sz="2800" dirty="0" smtClean="0"/>
          </a:p>
          <a:p>
            <a:r>
              <a:rPr lang="en-US" sz="2800" dirty="0" err="1" smtClean="0"/>
              <a:t>Procesor</a:t>
            </a:r>
            <a:r>
              <a:rPr lang="en-US" sz="2800" dirty="0" smtClean="0"/>
              <a:t> </a:t>
            </a:r>
            <a:r>
              <a:rPr lang="sr-Latn-RS" sz="2800" dirty="0" smtClean="0"/>
              <a:t>snima sadržaj programa koji se izvršava i počinje izvršavanje rutine za obradu prekida</a:t>
            </a:r>
            <a:r>
              <a:rPr lang="en-US" sz="2800" dirty="0" smtClean="0"/>
              <a:t> </a:t>
            </a:r>
            <a:r>
              <a:rPr lang="sr-Latn-RS" sz="2800" i="1" dirty="0" smtClean="0"/>
              <a:t>(</a:t>
            </a:r>
            <a:r>
              <a:rPr lang="en-US" sz="2800" i="1" dirty="0" smtClean="0"/>
              <a:t>interrupt-handler</a:t>
            </a:r>
            <a:r>
              <a:rPr lang="sr-Latn-RS" sz="2800" i="1" dirty="0" smtClean="0"/>
              <a:t>)</a:t>
            </a:r>
          </a:p>
          <a:p>
            <a:endParaRPr lang="sr-Latn-RS" sz="2800" i="1" dirty="0"/>
          </a:p>
          <a:p>
            <a:r>
              <a:rPr lang="sr-Latn-RS" sz="2000" dirty="0" smtClean="0"/>
              <a:t>Str.36</a:t>
            </a:r>
            <a:endParaRPr lang="en-US" sz="2000" dirty="0" smtClean="0"/>
          </a:p>
        </p:txBody>
      </p:sp>
      <p:pic>
        <p:nvPicPr>
          <p:cNvPr id="53252" name="Picture 3" descr="Fig01_19b.gi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27688" y="0"/>
            <a:ext cx="3516312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486400" cy="1143000"/>
          </a:xfrm>
        </p:spPr>
        <p:txBody>
          <a:bodyPr/>
          <a:lstStyle/>
          <a:p>
            <a:r>
              <a:rPr lang="en-US" dirty="0" smtClean="0"/>
              <a:t>Interrupt-Driven I/O</a:t>
            </a:r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57800" cy="4953000"/>
          </a:xfrm>
        </p:spPr>
        <p:txBody>
          <a:bodyPr/>
          <a:lstStyle/>
          <a:p>
            <a:r>
              <a:rPr lang="en-US" sz="2800" dirty="0" smtClean="0"/>
              <a:t>Processor is interrupted when I/O module ready to exchange data</a:t>
            </a:r>
          </a:p>
          <a:p>
            <a:r>
              <a:rPr lang="en-US" sz="2800" dirty="0" smtClean="0"/>
              <a:t>Processor saves context of program executing and begins executing interrupt-handler</a:t>
            </a:r>
          </a:p>
        </p:txBody>
      </p:sp>
      <p:pic>
        <p:nvPicPr>
          <p:cNvPr id="53252" name="Picture 3" descr="Fig01_19b.gi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27688" y="0"/>
            <a:ext cx="3516312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416764185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486400" cy="1143000"/>
          </a:xfrm>
        </p:spPr>
        <p:txBody>
          <a:bodyPr/>
          <a:lstStyle/>
          <a:p>
            <a:r>
              <a:rPr lang="sr-Latn-RS" dirty="0"/>
              <a:t>U/I upravljan prekidima</a:t>
            </a:r>
            <a:endParaRPr lang="en-US" dirty="0" smtClean="0"/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05400" cy="4953000"/>
          </a:xfrm>
        </p:spPr>
        <p:txBody>
          <a:bodyPr/>
          <a:lstStyle/>
          <a:p>
            <a:r>
              <a:rPr lang="sr-Latn-RS" dirty="0" smtClean="0"/>
              <a:t>Eliminiše bespotrebno čekanje</a:t>
            </a:r>
            <a:endParaRPr lang="en-US" dirty="0" smtClean="0"/>
          </a:p>
          <a:p>
            <a:pPr marL="0" indent="0">
              <a:buNone/>
            </a:pPr>
            <a:r>
              <a:rPr lang="sr-Latn-RS" dirty="0" smtClean="0"/>
              <a:t>I dalje:</a:t>
            </a:r>
          </a:p>
          <a:p>
            <a:r>
              <a:rPr lang="sr-Latn-RS" dirty="0" smtClean="0"/>
              <a:t>Troši mnogo vremena jer svaka reč pročitana/zapisana prolazi kroz procesor</a:t>
            </a:r>
          </a:p>
          <a:p>
            <a:endParaRPr lang="sr-Latn-RS" dirty="0"/>
          </a:p>
          <a:p>
            <a:r>
              <a:rPr lang="sr-Latn-RS" sz="2000" dirty="0" smtClean="0"/>
              <a:t>Str.36</a:t>
            </a:r>
            <a:endParaRPr lang="en-US" sz="2000" dirty="0" smtClean="0"/>
          </a:p>
        </p:txBody>
      </p:sp>
      <p:pic>
        <p:nvPicPr>
          <p:cNvPr id="53252" name="Picture 3" descr="Fig01_19b.gi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27688" y="0"/>
            <a:ext cx="3516312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486400" cy="1143000"/>
          </a:xfrm>
        </p:spPr>
        <p:txBody>
          <a:bodyPr/>
          <a:lstStyle/>
          <a:p>
            <a:r>
              <a:rPr lang="sr-Latn-RS" dirty="0"/>
              <a:t>U/I upravljan prekidima</a:t>
            </a:r>
            <a:endParaRPr lang="en-US" dirty="0" smtClean="0"/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05400" cy="4953000"/>
          </a:xfrm>
        </p:spPr>
        <p:txBody>
          <a:bodyPr/>
          <a:lstStyle/>
          <a:p>
            <a:r>
              <a:rPr lang="sr-Latn-RS" smtClean="0"/>
              <a:t>Neophodno postojanje mehanizama  koji će omogućiti procesoru </a:t>
            </a:r>
          </a:p>
          <a:p>
            <a:pPr>
              <a:buNone/>
            </a:pPr>
            <a:endParaRPr lang="sr-Latn-RS" smtClean="0"/>
          </a:p>
          <a:p>
            <a:pPr algn="ctr">
              <a:buNone/>
            </a:pPr>
            <a:r>
              <a:rPr lang="sr-Latn-RS" b="1" smtClean="0"/>
              <a:t>da </a:t>
            </a:r>
            <a:r>
              <a:rPr lang="sr-Latn-RS" b="1" dirty="0" smtClean="0"/>
              <a:t>utvrdi poreklo prekidnog signala</a:t>
            </a:r>
          </a:p>
          <a:p>
            <a:endParaRPr lang="sr-Latn-RS" dirty="0" smtClean="0"/>
          </a:p>
          <a:p>
            <a:pPr>
              <a:buNone/>
            </a:pPr>
            <a:endParaRPr lang="sr-Latn-RS" dirty="0"/>
          </a:p>
          <a:p>
            <a:r>
              <a:rPr lang="sr-Latn-RS" sz="2000" dirty="0" smtClean="0"/>
              <a:t>Str.36</a:t>
            </a:r>
            <a:endParaRPr lang="en-US" sz="2000" dirty="0" smtClean="0"/>
          </a:p>
        </p:txBody>
      </p:sp>
      <p:pic>
        <p:nvPicPr>
          <p:cNvPr id="53252" name="Picture 3" descr="Fig01_19b.gi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27688" y="0"/>
            <a:ext cx="3516312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215744100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</a:t>
            </a:r>
            <a:r>
              <a:rPr lang="sr-Latn-RS" dirty="0" smtClean="0"/>
              <a:t>k</a:t>
            </a:r>
            <a:r>
              <a:rPr lang="en-US" dirty="0" smtClean="0"/>
              <a:t>t</a:t>
            </a:r>
            <a:r>
              <a:rPr lang="sr-Latn-RS" dirty="0" smtClean="0"/>
              <a:t>an pristup m</a:t>
            </a:r>
            <a:r>
              <a:rPr lang="en-US" dirty="0" err="1" smtClean="0"/>
              <a:t>emor</a:t>
            </a:r>
            <a:r>
              <a:rPr lang="sr-Latn-RS" dirty="0" smtClean="0"/>
              <a:t>iji</a:t>
            </a:r>
            <a:endParaRPr lang="en-US" dirty="0" smtClean="0"/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57800" cy="4953000"/>
          </a:xfrm>
        </p:spPr>
        <p:txBody>
          <a:bodyPr/>
          <a:lstStyle/>
          <a:p>
            <a:pPr marL="0" indent="0">
              <a:buNone/>
            </a:pPr>
            <a:r>
              <a:rPr lang="sr-Latn-RS" dirty="0" smtClean="0"/>
              <a:t>DMA modul:</a:t>
            </a:r>
          </a:p>
          <a:p>
            <a:r>
              <a:rPr lang="sr-Latn-RS" dirty="0" smtClean="0"/>
              <a:t>Prebacuje</a:t>
            </a:r>
            <a:r>
              <a:rPr lang="en-US" dirty="0" smtClean="0"/>
              <a:t> </a:t>
            </a:r>
            <a:r>
              <a:rPr lang="en-US" dirty="0" err="1" smtClean="0"/>
              <a:t>blok</a:t>
            </a:r>
            <a:r>
              <a:rPr lang="en-US" dirty="0" smtClean="0"/>
              <a:t> </a:t>
            </a:r>
            <a:r>
              <a:rPr lang="sr-Latn-RS" dirty="0" smtClean="0"/>
              <a:t>podataka </a:t>
            </a:r>
            <a:r>
              <a:rPr lang="sr-Latn-RS" b="1" dirty="0" smtClean="0"/>
              <a:t>direktno</a:t>
            </a:r>
            <a:r>
              <a:rPr lang="sr-Latn-RS" dirty="0" smtClean="0"/>
              <a:t> u </a:t>
            </a:r>
            <a:r>
              <a:rPr lang="en-US" dirty="0" err="1" smtClean="0"/>
              <a:t>memor</a:t>
            </a:r>
            <a:r>
              <a:rPr lang="sr-Latn-RS" dirty="0" smtClean="0"/>
              <a:t>iju ili iz nje</a:t>
            </a:r>
            <a:endParaRPr lang="en-US" dirty="0" smtClean="0"/>
          </a:p>
          <a:p>
            <a:r>
              <a:rPr lang="sr-Latn-RS" dirty="0" smtClean="0"/>
              <a:t>Šalje prekidni signal procesoru po završetku prenosa</a:t>
            </a:r>
          </a:p>
          <a:p>
            <a:r>
              <a:rPr lang="sr-Latn-RS" sz="2000" dirty="0" smtClean="0"/>
              <a:t>Str.37</a:t>
            </a:r>
            <a:r>
              <a:rPr lang="sr-Latn-RS" dirty="0" smtClean="0"/>
              <a:t>      </a:t>
            </a:r>
            <a:endParaRPr lang="en-US" dirty="0" smtClean="0"/>
          </a:p>
        </p:txBody>
      </p:sp>
      <p:pic>
        <p:nvPicPr>
          <p:cNvPr id="54276" name="Picture 3" descr="Fig01_19c.gi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5000" y="1633538"/>
            <a:ext cx="3429000" cy="359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284593124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</a:t>
            </a:r>
            <a:r>
              <a:rPr lang="sr-Latn-RS" dirty="0" smtClean="0"/>
              <a:t>k</a:t>
            </a:r>
            <a:r>
              <a:rPr lang="en-US" dirty="0" smtClean="0"/>
              <a:t>t</a:t>
            </a:r>
            <a:r>
              <a:rPr lang="sr-Latn-RS" dirty="0" smtClean="0"/>
              <a:t>an pristup m</a:t>
            </a:r>
            <a:r>
              <a:rPr lang="en-US" dirty="0" err="1" smtClean="0"/>
              <a:t>emor</a:t>
            </a:r>
            <a:r>
              <a:rPr lang="sr-Latn-RS" dirty="0" smtClean="0"/>
              <a:t>iji</a:t>
            </a:r>
            <a:endParaRPr lang="en-US" dirty="0" smtClean="0"/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57800" cy="4953000"/>
          </a:xfrm>
        </p:spPr>
        <p:txBody>
          <a:bodyPr/>
          <a:lstStyle/>
          <a:p>
            <a:pPr marL="0" indent="0">
              <a:buNone/>
            </a:pPr>
            <a:r>
              <a:rPr lang="sr-Latn-RS" dirty="0" smtClean="0"/>
              <a:t>         procesor je uključen samo na početku i na kraju prenosa</a:t>
            </a:r>
            <a:endParaRPr lang="en-US" dirty="0" smtClean="0"/>
          </a:p>
          <a:p>
            <a:r>
              <a:rPr lang="sr-Latn-RS" dirty="0" smtClean="0"/>
              <a:t>Mnogo efikasniji prenos</a:t>
            </a:r>
          </a:p>
          <a:p>
            <a:pPr marL="0" indent="0">
              <a:buNone/>
            </a:pPr>
            <a:r>
              <a:rPr lang="sr-Latn-RS" dirty="0" smtClean="0"/>
              <a:t>Nedostatak: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 smtClean="0"/>
              <a:t>Konkurencija za korišćenje magistrale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 smtClean="0"/>
              <a:t>Procesor pravi pauzu od jednog ciklusa magistrale</a:t>
            </a:r>
            <a:endParaRPr lang="en-US" dirty="0" smtClean="0"/>
          </a:p>
        </p:txBody>
      </p:sp>
      <p:pic>
        <p:nvPicPr>
          <p:cNvPr id="54276" name="Picture 3" descr="Fig01_19c.gi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5000" y="1633538"/>
            <a:ext cx="3429000" cy="359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ight Arrow 1"/>
          <p:cNvSpPr/>
          <p:nvPr/>
        </p:nvSpPr>
        <p:spPr>
          <a:xfrm>
            <a:off x="762000" y="1702118"/>
            <a:ext cx="609600" cy="38100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32159230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 Memory Access</a:t>
            </a:r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57800" cy="4953000"/>
          </a:xfrm>
        </p:spPr>
        <p:txBody>
          <a:bodyPr/>
          <a:lstStyle/>
          <a:p>
            <a:r>
              <a:rPr lang="en-US" dirty="0" smtClean="0"/>
              <a:t>Transfers a block of data directly to or from memory</a:t>
            </a:r>
          </a:p>
          <a:p>
            <a:r>
              <a:rPr lang="en-US" dirty="0" smtClean="0"/>
              <a:t>An interrupt is sent when the transfer is complete</a:t>
            </a:r>
          </a:p>
          <a:p>
            <a:r>
              <a:rPr lang="en-US" dirty="0" smtClean="0"/>
              <a:t>More efficient</a:t>
            </a:r>
          </a:p>
        </p:txBody>
      </p:sp>
      <p:pic>
        <p:nvPicPr>
          <p:cNvPr id="54276" name="Picture 3" descr="Fig01_19c.gi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5000" y="1633538"/>
            <a:ext cx="3429000" cy="359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smtClean="0"/>
              <a:t>Kontrolna pitanja</a:t>
            </a:r>
            <a:endParaRPr lang="en-US" dirty="0" smtClean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None/>
            </a:pPr>
            <a:r>
              <a:rPr lang="sr-Latn-RS" smtClean="0"/>
              <a:t>1.1 Nabrojte i kratko opišite četiri osnovna elementa računara.</a:t>
            </a:r>
          </a:p>
          <a:p>
            <a:pPr marL="514350" indent="-514350">
              <a:buNone/>
            </a:pPr>
            <a:r>
              <a:rPr lang="sr-Latn-RS" smtClean="0"/>
              <a:t>1.2 Opišite dve glavne kategorije registara procesora.</a:t>
            </a:r>
          </a:p>
          <a:p>
            <a:pPr marL="514350" indent="-514350">
              <a:buNone/>
            </a:pPr>
            <a:r>
              <a:rPr lang="sr-Latn-RS" smtClean="0"/>
              <a:t>1.3 Koje su četiri opšte različite akcije koje se mogu navesti mašinskim instrukcijama?</a:t>
            </a:r>
          </a:p>
          <a:p>
            <a:pPr marL="514350" indent="-514350">
              <a:buNone/>
            </a:pPr>
            <a:r>
              <a:rPr lang="sr-Latn-RS" smtClean="0"/>
              <a:t>1.4 Šta je prekid?</a:t>
            </a: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smtClean="0"/>
              <a:t>Kontrolna pitanja (2)</a:t>
            </a:r>
            <a:endParaRPr lang="en-US" dirty="0" smtClean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None/>
            </a:pPr>
            <a:r>
              <a:rPr lang="sr-Latn-RS" smtClean="0"/>
              <a:t>1.5 Kako se obrađuju višestruki prekidi?</a:t>
            </a:r>
          </a:p>
          <a:p>
            <a:pPr marL="514350" indent="-514350">
              <a:buNone/>
            </a:pPr>
            <a:r>
              <a:rPr lang="sr-Latn-RS" smtClean="0"/>
              <a:t>1.6 Po kojim karakteristikama se razlikuju razni elementi u hijerarhiji memorije?</a:t>
            </a:r>
          </a:p>
          <a:p>
            <a:pPr marL="514350" indent="-514350">
              <a:buNone/>
            </a:pPr>
            <a:r>
              <a:rPr lang="sr-Latn-RS" smtClean="0"/>
              <a:t>1.7 Šta je keš memorija?</a:t>
            </a:r>
          </a:p>
          <a:p>
            <a:pPr marL="514350" indent="-514350">
              <a:buNone/>
            </a:pPr>
            <a:r>
              <a:rPr lang="sr-Latn-RS" smtClean="0"/>
              <a:t>1.8 Nabrojte i kratko opišite tri tehnike U/I operacija?</a:t>
            </a:r>
          </a:p>
          <a:p>
            <a:pPr marL="514350" indent="-514350">
              <a:buNone/>
            </a:pPr>
            <a:endParaRPr lang="sr-Latn-RS" smtClean="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2763</Words>
  <Application>Microsoft Office PowerPoint</Application>
  <PresentationFormat>On-screen Show (4:3)</PresentationFormat>
  <Paragraphs>596</Paragraphs>
  <Slides>106</Slides>
  <Notes>104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106</vt:i4>
      </vt:variant>
    </vt:vector>
  </HeadingPairs>
  <TitlesOfParts>
    <vt:vector size="108" baseType="lpstr">
      <vt:lpstr>Office Theme</vt:lpstr>
      <vt:lpstr>Custom Design</vt:lpstr>
      <vt:lpstr>Chapter 1 Computer System Overview</vt:lpstr>
      <vt:lpstr>Poglavlje 1 Pregled računarskog sistema</vt:lpstr>
      <vt:lpstr>Operativni sistem</vt:lpstr>
      <vt:lpstr>Operating System</vt:lpstr>
      <vt:lpstr>1.1 Osnovni elementi</vt:lpstr>
      <vt:lpstr>Osnovni elementi</vt:lpstr>
      <vt:lpstr>Basic Elements</vt:lpstr>
      <vt:lpstr>Osnovni elementi</vt:lpstr>
      <vt:lpstr>Basic Elements</vt:lpstr>
      <vt:lpstr>Komponente računara: pogled sa najvišeg nivoa</vt:lpstr>
      <vt:lpstr>Computer Components: Top-Level View</vt:lpstr>
      <vt:lpstr>1.2 Procesorski registri</vt:lpstr>
      <vt:lpstr>1.2 Procesorski registri</vt:lpstr>
      <vt:lpstr>User-Visible Registers</vt:lpstr>
      <vt:lpstr>Registri vidljivi korisniku</vt:lpstr>
      <vt:lpstr>Registri vidljivi korisniku</vt:lpstr>
      <vt:lpstr>User-Visible Registers</vt:lpstr>
      <vt:lpstr>Upravljački i statusni registri</vt:lpstr>
      <vt:lpstr>Control and Status Registers</vt:lpstr>
      <vt:lpstr>Upravljački i statusni registri</vt:lpstr>
      <vt:lpstr>Control and Status Registers</vt:lpstr>
      <vt:lpstr>1.3 Izvršavanje instrukcija</vt:lpstr>
      <vt:lpstr>Instruction Execution</vt:lpstr>
      <vt:lpstr>Osnovni instrukcijski ciklus</vt:lpstr>
      <vt:lpstr>Basic Instruction Cycle</vt:lpstr>
      <vt:lpstr>Pribavljanje i izvršavanje naredbi</vt:lpstr>
      <vt:lpstr>Instruction Fetch and Execute</vt:lpstr>
      <vt:lpstr>Registar naredbi - RN Instruction Register</vt:lpstr>
      <vt:lpstr>Instruction Register</vt:lpstr>
      <vt:lpstr>Karakteristike hipotetičkog računara</vt:lpstr>
      <vt:lpstr>Characteristics of a Hypothetical Machine</vt:lpstr>
      <vt:lpstr>Primer izvršavanja programa</vt:lpstr>
      <vt:lpstr>Example of Program Execution</vt:lpstr>
      <vt:lpstr>1.4 Prekidi (Interrupts)</vt:lpstr>
      <vt:lpstr>Interrupts</vt:lpstr>
      <vt:lpstr>Klase prekida</vt:lpstr>
      <vt:lpstr>Classes of Interrupts</vt:lpstr>
      <vt:lpstr>Tok kontrole programa</vt:lpstr>
      <vt:lpstr>Tok kontrole programa    zahtev za prekidom  opsluživač prekida  </vt:lpstr>
      <vt:lpstr>Tok kontrole programa</vt:lpstr>
      <vt:lpstr>Tok kontrole programa    zahtev za prekidom  opsluživač prekida  </vt:lpstr>
      <vt:lpstr>Tok kontrole programa</vt:lpstr>
      <vt:lpstr>Prekidno stanje</vt:lpstr>
      <vt:lpstr>Interrupt Stage</vt:lpstr>
      <vt:lpstr>Prebacivanje kontrole pomoću prekida</vt:lpstr>
      <vt:lpstr>Transfer of Control via Interrupts</vt:lpstr>
      <vt:lpstr>Instrukcijski ciklus sa prekidima</vt:lpstr>
      <vt:lpstr>Instruction Cycle with Interrupts</vt:lpstr>
      <vt:lpstr>Proračun vremena izvršavanja programa: kratko čekanje U/I</vt:lpstr>
      <vt:lpstr>Proračun vremena izvršavanja programa: dugo čekanje U/I</vt:lpstr>
      <vt:lpstr>Program Timing: Long I/O Wait</vt:lpstr>
      <vt:lpstr>Jednostavna obrada prekida</vt:lpstr>
      <vt:lpstr>Simple Interrupt Processing</vt:lpstr>
      <vt:lpstr>Promene u memoriji i registrima pri prekidu</vt:lpstr>
      <vt:lpstr>Changes in Memory and Registers for an Interrupt</vt:lpstr>
      <vt:lpstr>Changes in Memory and Registers for an Interrupt</vt:lpstr>
      <vt:lpstr>Promene u memoriji i registrima pri prekidu</vt:lpstr>
      <vt:lpstr>Sekvencijalna obrada prekida</vt:lpstr>
      <vt:lpstr>Sekvencijalna obrada prekida</vt:lpstr>
      <vt:lpstr>Sequential Interrupt Processing</vt:lpstr>
      <vt:lpstr>Ugnježdena obrada prekida</vt:lpstr>
      <vt:lpstr>Ugnježdena obrada prekida (2) Primer vremenske sekvence višestrukih prekida</vt:lpstr>
      <vt:lpstr>Ugnježdena obrada prekida (3) Primer vremenske sekvence višestrukih prekida</vt:lpstr>
      <vt:lpstr>Multiprogramiranje</vt:lpstr>
      <vt:lpstr>Multiprogramming</vt:lpstr>
      <vt:lpstr>1.5 Hijerarhija memorije</vt:lpstr>
      <vt:lpstr>1.5 Hijerarhija memorije</vt:lpstr>
      <vt:lpstr>1.5 Hijerarhija memorije</vt:lpstr>
      <vt:lpstr>Memory Hierarchy</vt:lpstr>
      <vt:lpstr>Hijerarhija memorije</vt:lpstr>
      <vt:lpstr>The Memory Hierarchy</vt:lpstr>
      <vt:lpstr>Spuštanje niz hijerarhiju</vt:lpstr>
      <vt:lpstr>Going Down the Hierarchy</vt:lpstr>
      <vt:lpstr>Sekundarna memorija</vt:lpstr>
      <vt:lpstr>Secondary Memory</vt:lpstr>
      <vt:lpstr>1.6 Keš memorija</vt:lpstr>
      <vt:lpstr>Cache Memory</vt:lpstr>
      <vt:lpstr>Keš i glavna memorija</vt:lpstr>
      <vt:lpstr>Cache and Main Memory</vt:lpstr>
      <vt:lpstr>Principli keš memorije</vt:lpstr>
      <vt:lpstr>Struktura keš/glavna memorija</vt:lpstr>
      <vt:lpstr>Struktura keš/glavna memorija (2)</vt:lpstr>
      <vt:lpstr>Struktura keš/glavna memorija (3)</vt:lpstr>
      <vt:lpstr>Operacija čitanja keš memorije</vt:lpstr>
      <vt:lpstr>Operacija čitanja keš memorije</vt:lpstr>
      <vt:lpstr>Dizajn keš memorije</vt:lpstr>
      <vt:lpstr>Dizajn keš memorije</vt:lpstr>
      <vt:lpstr>Cache Principles</vt:lpstr>
      <vt:lpstr>Dizajn keš memorije</vt:lpstr>
      <vt:lpstr>Cache Principles</vt:lpstr>
      <vt:lpstr>Dizajn keš memorije</vt:lpstr>
      <vt:lpstr>Cache Principles</vt:lpstr>
      <vt:lpstr>Ulazno/Izlazne tehnike komuniciranja</vt:lpstr>
      <vt:lpstr>Programirani U/I</vt:lpstr>
      <vt:lpstr>Programmed I/O</vt:lpstr>
      <vt:lpstr>Programirani U/I (2)</vt:lpstr>
      <vt:lpstr>Problemi</vt:lpstr>
      <vt:lpstr>U/I upravljan prekidima</vt:lpstr>
      <vt:lpstr>Interrupt-Driven I/O</vt:lpstr>
      <vt:lpstr>U/I upravljan prekidima</vt:lpstr>
      <vt:lpstr>U/I upravljan prekidima</vt:lpstr>
      <vt:lpstr>Direktan pristup memoriji</vt:lpstr>
      <vt:lpstr>Direktan pristup memoriji</vt:lpstr>
      <vt:lpstr>Direct Memory Access</vt:lpstr>
      <vt:lpstr>Kontrolna pitanja</vt:lpstr>
      <vt:lpstr>Kontrolna pitanja (2)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2008-09-16T18:22:21Z</dcterms:created>
  <dcterms:modified xsi:type="dcterms:W3CDTF">2014-11-06T21:01:00Z</dcterms:modified>
</cp:coreProperties>
</file>